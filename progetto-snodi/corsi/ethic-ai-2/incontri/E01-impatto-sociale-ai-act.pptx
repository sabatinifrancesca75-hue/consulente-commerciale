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Benvenuto, giro nomi in chat. Molti arrivano da Edu-GenAI 2: questo corso è il completamento critico-etico. Attestato: 70% frequenza (13 ore) + UdA di Educazione Civica digitale.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Presentare la rotta e il patto (stesso perimetro di Edu-GenAI 2, con l'aggiunta: qui l'IA è oggetto di studio critico). Anticipare il project work: UdA di Educazione Civica digitale.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dato 62/30 apre il corso col mandato: non stiamo aggiungendo contenuti, stiamo colmando un divario di cittadinanza. Chi viene da Edu-GenAI 2 riconoscerà il dato: là chiudeva, qui apre.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Esempi concreti e vicini: far emergere dall'aula casi che conoscono (rider, CV screening, feed). O'Neil è la miniera di casi. Chiudere sul ponte: se le decisioni migrano agli algoritmi, la cittadinanza richiede di saperli interrogare.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Differenza rispetto a Edu-GenAI 2: là l'AI Act era perimetro operativo, qui è oggetto didattico. Il riconoscimento emozioni vietato in classe sorprende sempre: usarlo come gancio. La chiusura è la tesi del corso: la norma si insegna, non solo si rispetta.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frame copilota/decisore organizza tutto il corso. Automation bias da spiegare bene: è il rischio dell'era agentica. La citazione EDPS dà il respiro istituzionale europeo.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slide-mappa: ogni voce tornerà come 'capsula filosofica' da 10 minuti negli incontri successivi (Floridi qui, Fabris al 2, Antiqua et Nova al 3, Benanti al 4, Panai al 5). Precisione da tenere: NON esiste a oggi un'enciclica sull'IA — i documenti sono la nota Antiqua et Nova e il Rome Call; verificare prima del corso se nel frattempo è uscita (ed è essa stessa una lezione di fact-checking). Il registro è laico: si citano per la qualità concettuale, non per catechesi.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laboratorio produce la materia prima delle UdA: ogni gruppo esce con un caso reale classificato. Girare nelle stanze e spingere verso casi vicini all'esperienza degli studenti, non casi da manuale.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Stessa slide-firma di Edu-GenAI 2: colloca il corso nell'agenda internazionale. L'EDPS va citato con l'ambito corretto (istituzioni UE) come modello di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Chiusura puntuale, firma registro. Il caso mediatico da portare è il materiale del prossimo laboratorio: insistere.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731520" y="640080"/>
            <a:ext cx="10698480" cy="32004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VOLTERRA AI-MASTER HUB — Snodo formativo IA  •  PNRR M4C1 I2.1</a:t>
            </a:r>
            <a:endParaRPr lang="en-US" sz="1300" dirty="0"/>
          </a:p>
        </p:txBody>
      </p:sp>
      <p:sp>
        <p:nvSpPr>
          <p:cNvPr id="3" name="Text 1"/>
          <p:cNvSpPr/>
          <p:nvPr/>
        </p:nvSpPr>
        <p:spPr>
          <a:xfrm>
            <a:off x="731520" y="1828800"/>
            <a:ext cx="1069848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Ethic-AI 2</a:t>
            </a:r>
            <a:endParaRPr lang="en-US" sz="5400" dirty="0"/>
          </a:p>
        </p:txBody>
      </p:sp>
      <p:sp>
        <p:nvSpPr>
          <p:cNvPr id="4" name="Text 2"/>
          <p:cNvSpPr/>
          <p:nvPr/>
        </p:nvSpPr>
        <p:spPr>
          <a:xfrm>
            <a:off x="731520" y="2788920"/>
            <a:ext cx="10698480" cy="411480"/>
          </a:xfrm>
          <a:prstGeom prst="rect">
            <a:avLst/>
          </a:prstGeom>
          <a:noFill/>
          <a:ln/>
        </p:spPr>
        <p:txBody>
          <a:bodyPr wrap="square" lIns="0" tIns="0" rIns="0" bIns="0" rtlCol="0" anchor="ctr"/>
          <a:lstStyle/>
          <a:p>
            <a:pPr indent="0" marL="0">
              <a:buNone/>
            </a:pPr>
            <a:r>
              <a:rPr lang="en-US" sz="1800" dirty="0">
                <a:solidFill>
                  <a:srgbClr val="CADCFC"/>
                </a:solidFill>
                <a:latin typeface="Calibri" pitchFamily="34" charset="0"/>
                <a:ea typeface="Calibri" pitchFamily="34" charset="-122"/>
                <a:cs typeface="Calibri" pitchFamily="34" charset="-120"/>
              </a:rPr>
              <a:t>Etica, Bias e Cittadinanza nell'era dell'IA — 18 ore, docenti del secondo ciclo</a:t>
            </a:r>
            <a:endParaRPr lang="en-US" sz="1800" dirty="0"/>
          </a:p>
        </p:txBody>
      </p:sp>
      <p:sp>
        <p:nvSpPr>
          <p:cNvPr id="5" name="Shape 3"/>
          <p:cNvSpPr/>
          <p:nvPr/>
        </p:nvSpPr>
        <p:spPr>
          <a:xfrm>
            <a:off x="731520" y="3657600"/>
            <a:ext cx="777240" cy="777240"/>
          </a:xfrm>
          <a:prstGeom prst="ellipse">
            <a:avLst/>
          </a:prstGeom>
          <a:solidFill>
            <a:srgbClr val="CADCFC"/>
          </a:solidFill>
          <a:ln w="12700">
            <a:solidFill>
              <a:srgbClr val="CADCFC"/>
            </a:solidFill>
            <a:prstDash val="solid"/>
          </a:ln>
        </p:spPr>
      </p:sp>
      <p:sp>
        <p:nvSpPr>
          <p:cNvPr id="6" name="Text 4"/>
          <p:cNvSpPr/>
          <p:nvPr/>
        </p:nvSpPr>
        <p:spPr>
          <a:xfrm>
            <a:off x="731520" y="3657600"/>
            <a:ext cx="777240" cy="777240"/>
          </a:xfrm>
          <a:prstGeom prst="rect">
            <a:avLst/>
          </a:prstGeom>
          <a:noFill/>
          <a:ln/>
        </p:spPr>
        <p:txBody>
          <a:bodyPr wrap="square" lIns="0" tIns="0" rIns="0" bIns="0" rtlCol="0" anchor="ctr"/>
          <a:lstStyle/>
          <a:p>
            <a:pPr algn="ctr" indent="0" marL="0">
              <a:buNone/>
            </a:pPr>
            <a:r>
              <a:rPr lang="en-US" sz="2600" b="1" dirty="0">
                <a:solidFill>
                  <a:srgbClr val="1E2761"/>
                </a:solidFill>
                <a:latin typeface="Cambria" pitchFamily="34" charset="0"/>
                <a:ea typeface="Cambria" pitchFamily="34" charset="-122"/>
                <a:cs typeface="Cambria" pitchFamily="34" charset="-120"/>
              </a:rPr>
              <a:t>1</a:t>
            </a:r>
            <a:endParaRPr lang="en-US" sz="2600" dirty="0"/>
          </a:p>
        </p:txBody>
      </p:sp>
      <p:sp>
        <p:nvSpPr>
          <p:cNvPr id="7" name="Text 5"/>
          <p:cNvSpPr/>
          <p:nvPr/>
        </p:nvSpPr>
        <p:spPr>
          <a:xfrm>
            <a:off x="1783080" y="3675888"/>
            <a:ext cx="9509760" cy="100584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Incontro 1 — Impatto sociale, algocrazia e AI Act</a:t>
            </a:r>
            <a:endParaRPr lang="en-US" sz="2400" dirty="0"/>
          </a:p>
          <a:p>
            <a:pPr indent="0" marL="0">
              <a:buNone/>
            </a:pPr>
            <a:r>
              <a:rPr lang="en-US" sz="1500" dirty="0">
                <a:solidFill>
                  <a:srgbClr val="CADCFC"/>
                </a:solidFill>
                <a:latin typeface="Calibri" pitchFamily="34" charset="0"/>
                <a:ea typeface="Calibri" pitchFamily="34" charset="-122"/>
                <a:cs typeface="Calibri" pitchFamily="34" charset="-120"/>
              </a:rPr>
              <a:t>lunedì 28 settembre 2026  •  15:00–18:00  •  online su Google Meet</a:t>
            </a:r>
            <a:endParaRPr lang="en-US" sz="2400" dirty="0"/>
          </a:p>
        </p:txBody>
      </p:sp>
      <p:sp>
        <p:nvSpPr>
          <p:cNvPr id="8" name="Text 6"/>
          <p:cNvSpPr/>
          <p:nvPr/>
        </p:nvSpPr>
        <p:spPr>
          <a:xfrm>
            <a:off x="731520" y="5989320"/>
            <a:ext cx="10698480" cy="32004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Formatrice: Prof.ssa Sabatini   •   Tutor: Prof. Simonetti</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84048"/>
            <a:ext cx="566928" cy="566928"/>
          </a:xfrm>
          <a:prstGeom prst="ellipse">
            <a:avLst/>
          </a:prstGeom>
          <a:solidFill>
            <a:srgbClr val="1E2761"/>
          </a:solidFill>
          <a:ln w="12700">
            <a:solidFill>
              <a:srgbClr val="1E2761"/>
            </a:solidFill>
            <a:prstDash val="solid"/>
          </a:ln>
        </p:spPr>
      </p:sp>
      <p:sp>
        <p:nvSpPr>
          <p:cNvPr id="3" name="Text 1"/>
          <p:cNvSpPr/>
          <p:nvPr/>
        </p:nvSpPr>
        <p:spPr>
          <a:xfrm>
            <a:off x="502920" y="384048"/>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4" name="Text 2"/>
          <p:cNvSpPr/>
          <p:nvPr/>
        </p:nvSpPr>
        <p:spPr>
          <a:xfrm>
            <a:off x="1234440" y="347472"/>
            <a:ext cx="9601200" cy="274320"/>
          </a:xfrm>
          <a:prstGeom prst="rect">
            <a:avLst/>
          </a:prstGeom>
          <a:noFill/>
          <a:ln/>
        </p:spPr>
        <p:txBody>
          <a:bodyPr wrap="square" lIns="0" tIns="0" rIns="0" bIns="0" rtlCol="0" anchor="ctr"/>
          <a:lstStyle/>
          <a:p>
            <a:pPr indent="0" marL="0">
              <a:buNone/>
            </a:pPr>
            <a:r>
              <a:rPr lang="en-US" sz="1100" dirty="0">
                <a:solidFill>
                  <a:srgbClr val="5B6B7C"/>
                </a:solidFill>
                <a:latin typeface="Calibri" pitchFamily="34" charset="0"/>
                <a:ea typeface="Calibri" pitchFamily="34" charset="-122"/>
                <a:cs typeface="Calibri" pitchFamily="34" charset="-120"/>
              </a:rPr>
              <a:t>Ethic-AI 2 — Etica, Bias e Cittadinanza nell'era dell'IA</a:t>
            </a:r>
            <a:endParaRPr lang="en-US" sz="1100" dirty="0"/>
          </a:p>
        </p:txBody>
      </p:sp>
      <p:sp>
        <p:nvSpPr>
          <p:cNvPr id="5" name="Text 3"/>
          <p:cNvSpPr/>
          <p:nvPr/>
        </p:nvSpPr>
        <p:spPr>
          <a:xfrm>
            <a:off x="1234440" y="566928"/>
            <a:ext cx="10332720" cy="68580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La rotta di oggi</a:t>
            </a:r>
            <a:endParaRPr lang="en-US" sz="3000" dirty="0"/>
          </a:p>
        </p:txBody>
      </p:sp>
      <p:sp>
        <p:nvSpPr>
          <p:cNvPr id="6" name="Shape 4"/>
          <p:cNvSpPr/>
          <p:nvPr/>
        </p:nvSpPr>
        <p:spPr>
          <a:xfrm>
            <a:off x="822960" y="1572768"/>
            <a:ext cx="402336" cy="402336"/>
          </a:xfrm>
          <a:prstGeom prst="ellipse">
            <a:avLst/>
          </a:prstGeom>
          <a:solidFill>
            <a:srgbClr val="1E2761"/>
          </a:solidFill>
          <a:ln w="12700">
            <a:solidFill>
              <a:srgbClr val="1E2761"/>
            </a:solidFill>
            <a:prstDash val="solid"/>
          </a:ln>
        </p:spPr>
      </p:sp>
      <p:sp>
        <p:nvSpPr>
          <p:cNvPr id="7" name="Text 5"/>
          <p:cNvSpPr/>
          <p:nvPr/>
        </p:nvSpPr>
        <p:spPr>
          <a:xfrm>
            <a:off x="822960" y="1572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417320" y="1536192"/>
            <a:ext cx="7955280" cy="502920"/>
          </a:xfrm>
          <a:prstGeom prst="rect">
            <a:avLst/>
          </a:prstGeom>
          <a:noFill/>
          <a:ln/>
        </p:spPr>
        <p:txBody>
          <a:bodyPr wrap="square" lIns="0" tIns="0" rIns="0" bIns="0" rtlCol="0" anchor="ctr"/>
          <a:lstStyle/>
          <a:p>
            <a:pPr indent="0" marL="0">
              <a:buNone/>
            </a:pPr>
            <a:r>
              <a:rPr lang="en-US" sz="1500" b="1" dirty="0">
                <a:solidFill>
                  <a:srgbClr val="26303B"/>
                </a:solidFill>
                <a:latin typeface="Calibri" pitchFamily="34" charset="0"/>
                <a:ea typeface="Calibri" pitchFamily="34" charset="-122"/>
                <a:cs typeface="Calibri" pitchFamily="34" charset="-120"/>
              </a:rPr>
              <a:t>Perché un corso sull'etica dell'IA   </a:t>
            </a:r>
            <a:pPr indent="0" marL="0">
              <a:buNone/>
            </a:pPr>
            <a:r>
              <a:rPr lang="en-US" sz="1250" dirty="0">
                <a:solidFill>
                  <a:srgbClr val="5B6B7C"/>
                </a:solidFill>
                <a:latin typeface="Calibri" pitchFamily="34" charset="0"/>
                <a:ea typeface="Calibri" pitchFamily="34" charset="-122"/>
                <a:cs typeface="Calibri" pitchFamily="34" charset="-120"/>
              </a:rPr>
              <a:t>il mandato civico</a:t>
            </a:r>
            <a:endParaRPr lang="en-US" sz="1500" dirty="0"/>
          </a:p>
        </p:txBody>
      </p:sp>
      <p:sp>
        <p:nvSpPr>
          <p:cNvPr id="9" name="Text 7"/>
          <p:cNvSpPr/>
          <p:nvPr/>
        </p:nvSpPr>
        <p:spPr>
          <a:xfrm>
            <a:off x="9692640" y="1536192"/>
            <a:ext cx="1828800" cy="502920"/>
          </a:xfrm>
          <a:prstGeom prst="rect">
            <a:avLst/>
          </a:prstGeom>
          <a:noFill/>
          <a:ln/>
        </p:spPr>
        <p:txBody>
          <a:bodyPr wrap="square" lIns="0" tIns="0" rIns="0" bIns="0" rtlCol="0" anchor="ctr"/>
          <a:lstStyle/>
          <a:p>
            <a:pPr algn="r" indent="0" marL="0">
              <a:buNone/>
            </a:pPr>
            <a:r>
              <a:rPr lang="en-US" sz="1250" dirty="0">
                <a:solidFill>
                  <a:srgbClr val="5B6B7C"/>
                </a:solidFill>
                <a:latin typeface="Calibri" pitchFamily="34" charset="0"/>
                <a:ea typeface="Calibri" pitchFamily="34" charset="-122"/>
                <a:cs typeface="Calibri" pitchFamily="34" charset="-120"/>
              </a:rPr>
              <a:t>15:00</a:t>
            </a:r>
            <a:endParaRPr lang="en-US" sz="1250" dirty="0"/>
          </a:p>
        </p:txBody>
      </p:sp>
      <p:sp>
        <p:nvSpPr>
          <p:cNvPr id="10" name="Shape 8"/>
          <p:cNvSpPr/>
          <p:nvPr/>
        </p:nvSpPr>
        <p:spPr>
          <a:xfrm>
            <a:off x="822960" y="2231136"/>
            <a:ext cx="402336" cy="402336"/>
          </a:xfrm>
          <a:prstGeom prst="ellipse">
            <a:avLst/>
          </a:prstGeom>
          <a:solidFill>
            <a:srgbClr val="1E2761"/>
          </a:solidFill>
          <a:ln w="12700">
            <a:solidFill>
              <a:srgbClr val="1E2761"/>
            </a:solidFill>
            <a:prstDash val="solid"/>
          </a:ln>
        </p:spPr>
      </p:sp>
      <p:sp>
        <p:nvSpPr>
          <p:cNvPr id="11" name="Text 9"/>
          <p:cNvSpPr/>
          <p:nvPr/>
        </p:nvSpPr>
        <p:spPr>
          <a:xfrm>
            <a:off x="822960" y="223113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2" name="Text 10"/>
          <p:cNvSpPr/>
          <p:nvPr/>
        </p:nvSpPr>
        <p:spPr>
          <a:xfrm>
            <a:off x="1417320" y="2194560"/>
            <a:ext cx="7955280" cy="502920"/>
          </a:xfrm>
          <a:prstGeom prst="rect">
            <a:avLst/>
          </a:prstGeom>
          <a:noFill/>
          <a:ln/>
        </p:spPr>
        <p:txBody>
          <a:bodyPr wrap="square" lIns="0" tIns="0" rIns="0" bIns="0" rtlCol="0" anchor="ctr"/>
          <a:lstStyle/>
          <a:p>
            <a:pPr indent="0" marL="0">
              <a:buNone/>
            </a:pPr>
            <a:r>
              <a:rPr lang="en-US" sz="1500" b="1" dirty="0">
                <a:solidFill>
                  <a:srgbClr val="26303B"/>
                </a:solidFill>
                <a:latin typeface="Calibri" pitchFamily="34" charset="0"/>
                <a:ea typeface="Calibri" pitchFamily="34" charset="-122"/>
                <a:cs typeface="Calibri" pitchFamily="34" charset="-120"/>
              </a:rPr>
              <a:t>Algocrazia: dove decidono gli algoritmi   </a:t>
            </a:r>
            <a:pPr indent="0" marL="0">
              <a:buNone/>
            </a:pPr>
            <a:r>
              <a:rPr lang="en-US" sz="1250" dirty="0">
                <a:solidFill>
                  <a:srgbClr val="5B6B7C"/>
                </a:solidFill>
                <a:latin typeface="Calibri" pitchFamily="34" charset="0"/>
                <a:ea typeface="Calibri" pitchFamily="34" charset="-122"/>
                <a:cs typeface="Calibri" pitchFamily="34" charset="-120"/>
              </a:rPr>
              <a:t>credito, lavoro, giustizia, scuola</a:t>
            </a:r>
            <a:endParaRPr lang="en-US" sz="1500" dirty="0"/>
          </a:p>
        </p:txBody>
      </p:sp>
      <p:sp>
        <p:nvSpPr>
          <p:cNvPr id="13" name="Text 11"/>
          <p:cNvSpPr/>
          <p:nvPr/>
        </p:nvSpPr>
        <p:spPr>
          <a:xfrm>
            <a:off x="9692640" y="2194560"/>
            <a:ext cx="1828800" cy="502920"/>
          </a:xfrm>
          <a:prstGeom prst="rect">
            <a:avLst/>
          </a:prstGeom>
          <a:noFill/>
          <a:ln/>
        </p:spPr>
        <p:txBody>
          <a:bodyPr wrap="square" lIns="0" tIns="0" rIns="0" bIns="0" rtlCol="0" anchor="ctr"/>
          <a:lstStyle/>
          <a:p>
            <a:pPr algn="r" indent="0" marL="0">
              <a:buNone/>
            </a:pPr>
            <a:r>
              <a:rPr lang="en-US" sz="1250" dirty="0">
                <a:solidFill>
                  <a:srgbClr val="5B6B7C"/>
                </a:solidFill>
                <a:latin typeface="Calibri" pitchFamily="34" charset="0"/>
                <a:ea typeface="Calibri" pitchFamily="34" charset="-122"/>
                <a:cs typeface="Calibri" pitchFamily="34" charset="-120"/>
              </a:rPr>
              <a:t>15:20</a:t>
            </a:r>
            <a:endParaRPr lang="en-US" sz="1250" dirty="0"/>
          </a:p>
        </p:txBody>
      </p:sp>
      <p:sp>
        <p:nvSpPr>
          <p:cNvPr id="14" name="Shape 12"/>
          <p:cNvSpPr/>
          <p:nvPr/>
        </p:nvSpPr>
        <p:spPr>
          <a:xfrm>
            <a:off x="822960" y="2889504"/>
            <a:ext cx="402336" cy="402336"/>
          </a:xfrm>
          <a:prstGeom prst="ellipse">
            <a:avLst/>
          </a:prstGeom>
          <a:solidFill>
            <a:srgbClr val="1E2761"/>
          </a:solidFill>
          <a:ln w="12700">
            <a:solidFill>
              <a:srgbClr val="1E2761"/>
            </a:solidFill>
            <a:prstDash val="solid"/>
          </a:ln>
        </p:spPr>
      </p:sp>
      <p:sp>
        <p:nvSpPr>
          <p:cNvPr id="15" name="Text 13"/>
          <p:cNvSpPr/>
          <p:nvPr/>
        </p:nvSpPr>
        <p:spPr>
          <a:xfrm>
            <a:off x="822960" y="2889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6" name="Text 14"/>
          <p:cNvSpPr/>
          <p:nvPr/>
        </p:nvSpPr>
        <p:spPr>
          <a:xfrm>
            <a:off x="1417320" y="2852928"/>
            <a:ext cx="7955280" cy="502920"/>
          </a:xfrm>
          <a:prstGeom prst="rect">
            <a:avLst/>
          </a:prstGeom>
          <a:noFill/>
          <a:ln/>
        </p:spPr>
        <p:txBody>
          <a:bodyPr wrap="square" lIns="0" tIns="0" rIns="0" bIns="0" rtlCol="0" anchor="ctr"/>
          <a:lstStyle/>
          <a:p>
            <a:pPr indent="0" marL="0">
              <a:buNone/>
            </a:pPr>
            <a:r>
              <a:rPr lang="en-US" sz="1500" b="1" dirty="0">
                <a:solidFill>
                  <a:srgbClr val="26303B"/>
                </a:solidFill>
                <a:latin typeface="Calibri" pitchFamily="34" charset="0"/>
                <a:ea typeface="Calibri" pitchFamily="34" charset="-122"/>
                <a:cs typeface="Calibri" pitchFamily="34" charset="-120"/>
              </a:rPr>
              <a:t>L'AI Act in pratica   </a:t>
            </a:r>
            <a:pPr indent="0" marL="0">
              <a:buNone/>
            </a:pPr>
            <a:r>
              <a:rPr lang="en-US" sz="1250" dirty="0">
                <a:solidFill>
                  <a:srgbClr val="5B6B7C"/>
                </a:solidFill>
                <a:latin typeface="Calibri" pitchFamily="34" charset="0"/>
                <a:ea typeface="Calibri" pitchFamily="34" charset="-122"/>
                <a:cs typeface="Calibri" pitchFamily="34" charset="-120"/>
              </a:rPr>
              <a:t>piramide dei rischi, divieti, trasparenza</a:t>
            </a:r>
            <a:endParaRPr lang="en-US" sz="1500" dirty="0"/>
          </a:p>
        </p:txBody>
      </p:sp>
      <p:sp>
        <p:nvSpPr>
          <p:cNvPr id="17" name="Text 15"/>
          <p:cNvSpPr/>
          <p:nvPr/>
        </p:nvSpPr>
        <p:spPr>
          <a:xfrm>
            <a:off x="9692640" y="2852928"/>
            <a:ext cx="1828800" cy="502920"/>
          </a:xfrm>
          <a:prstGeom prst="rect">
            <a:avLst/>
          </a:prstGeom>
          <a:noFill/>
          <a:ln/>
        </p:spPr>
        <p:txBody>
          <a:bodyPr wrap="square" lIns="0" tIns="0" rIns="0" bIns="0" rtlCol="0" anchor="ctr"/>
          <a:lstStyle/>
          <a:p>
            <a:pPr algn="r" indent="0" marL="0">
              <a:buNone/>
            </a:pPr>
            <a:r>
              <a:rPr lang="en-US" sz="1250" dirty="0">
                <a:solidFill>
                  <a:srgbClr val="5B6B7C"/>
                </a:solidFill>
                <a:latin typeface="Calibri" pitchFamily="34" charset="0"/>
                <a:ea typeface="Calibri" pitchFamily="34" charset="-122"/>
                <a:cs typeface="Calibri" pitchFamily="34" charset="-120"/>
              </a:rPr>
              <a:t>16:00</a:t>
            </a:r>
            <a:endParaRPr lang="en-US" sz="1250" dirty="0"/>
          </a:p>
        </p:txBody>
      </p:sp>
      <p:sp>
        <p:nvSpPr>
          <p:cNvPr id="18" name="Shape 16"/>
          <p:cNvSpPr/>
          <p:nvPr/>
        </p:nvSpPr>
        <p:spPr>
          <a:xfrm>
            <a:off x="822960" y="3547872"/>
            <a:ext cx="402336" cy="402336"/>
          </a:xfrm>
          <a:prstGeom prst="ellipse">
            <a:avLst/>
          </a:prstGeom>
          <a:solidFill>
            <a:srgbClr val="1E2761"/>
          </a:solidFill>
          <a:ln w="12700">
            <a:solidFill>
              <a:srgbClr val="1E2761"/>
            </a:solidFill>
            <a:prstDash val="solid"/>
          </a:ln>
        </p:spPr>
      </p:sp>
      <p:sp>
        <p:nvSpPr>
          <p:cNvPr id="19" name="Text 17"/>
          <p:cNvSpPr/>
          <p:nvPr/>
        </p:nvSpPr>
        <p:spPr>
          <a:xfrm>
            <a:off x="822960" y="354787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0" name="Text 18"/>
          <p:cNvSpPr/>
          <p:nvPr/>
        </p:nvSpPr>
        <p:spPr>
          <a:xfrm>
            <a:off x="1417320" y="3511296"/>
            <a:ext cx="7955280" cy="502920"/>
          </a:xfrm>
          <a:prstGeom prst="rect">
            <a:avLst/>
          </a:prstGeom>
          <a:noFill/>
          <a:ln/>
        </p:spPr>
        <p:txBody>
          <a:bodyPr wrap="square" lIns="0" tIns="0" rIns="0" bIns="0" rtlCol="0" anchor="ctr"/>
          <a:lstStyle/>
          <a:p>
            <a:pPr indent="0" marL="0">
              <a:buNone/>
            </a:pPr>
            <a:r>
              <a:rPr lang="en-US" sz="1500" b="1" dirty="0">
                <a:solidFill>
                  <a:srgbClr val="26303B"/>
                </a:solidFill>
                <a:latin typeface="Calibri" pitchFamily="34" charset="0"/>
                <a:ea typeface="Calibri" pitchFamily="34" charset="-122"/>
                <a:cs typeface="Calibri" pitchFamily="34" charset="-120"/>
              </a:rPr>
              <a:t>Copilota o decisore?   </a:t>
            </a:r>
            <a:pPr indent="0" marL="0">
              <a:buNone/>
            </a:pPr>
            <a:r>
              <a:rPr lang="en-US" sz="1250" dirty="0">
                <a:solidFill>
                  <a:srgbClr val="5B6B7C"/>
                </a:solidFill>
                <a:latin typeface="Calibri" pitchFamily="34" charset="0"/>
                <a:ea typeface="Calibri" pitchFamily="34" charset="-122"/>
                <a:cs typeface="Calibri" pitchFamily="34" charset="-120"/>
              </a:rPr>
              <a:t>la supervisione umana come principio</a:t>
            </a:r>
            <a:endParaRPr lang="en-US" sz="1500" dirty="0"/>
          </a:p>
        </p:txBody>
      </p:sp>
      <p:sp>
        <p:nvSpPr>
          <p:cNvPr id="21" name="Text 19"/>
          <p:cNvSpPr/>
          <p:nvPr/>
        </p:nvSpPr>
        <p:spPr>
          <a:xfrm>
            <a:off x="9692640" y="3511296"/>
            <a:ext cx="1828800" cy="502920"/>
          </a:xfrm>
          <a:prstGeom prst="rect">
            <a:avLst/>
          </a:prstGeom>
          <a:noFill/>
          <a:ln/>
        </p:spPr>
        <p:txBody>
          <a:bodyPr wrap="square" lIns="0" tIns="0" rIns="0" bIns="0" rtlCol="0" anchor="ctr"/>
          <a:lstStyle/>
          <a:p>
            <a:pPr algn="r" indent="0" marL="0">
              <a:buNone/>
            </a:pPr>
            <a:r>
              <a:rPr lang="en-US" sz="1250" dirty="0">
                <a:solidFill>
                  <a:srgbClr val="5B6B7C"/>
                </a:solidFill>
                <a:latin typeface="Calibri" pitchFamily="34" charset="0"/>
                <a:ea typeface="Calibri" pitchFamily="34" charset="-122"/>
                <a:cs typeface="Calibri" pitchFamily="34" charset="-120"/>
              </a:rPr>
              <a:t>16:40</a:t>
            </a:r>
            <a:endParaRPr lang="en-US" sz="1250" dirty="0"/>
          </a:p>
        </p:txBody>
      </p:sp>
      <p:sp>
        <p:nvSpPr>
          <p:cNvPr id="22" name="Shape 20"/>
          <p:cNvSpPr/>
          <p:nvPr/>
        </p:nvSpPr>
        <p:spPr>
          <a:xfrm>
            <a:off x="822960" y="4206240"/>
            <a:ext cx="402336" cy="402336"/>
          </a:xfrm>
          <a:prstGeom prst="ellipse">
            <a:avLst/>
          </a:prstGeom>
          <a:solidFill>
            <a:srgbClr val="1E2761"/>
          </a:solidFill>
          <a:ln w="12700">
            <a:solidFill>
              <a:srgbClr val="1E2761"/>
            </a:solidFill>
            <a:prstDash val="solid"/>
          </a:ln>
        </p:spPr>
      </p:sp>
      <p:sp>
        <p:nvSpPr>
          <p:cNvPr id="23" name="Text 21"/>
          <p:cNvSpPr/>
          <p:nvPr/>
        </p:nvSpPr>
        <p:spPr>
          <a:xfrm>
            <a:off x="822960" y="420624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4" name="Text 22"/>
          <p:cNvSpPr/>
          <p:nvPr/>
        </p:nvSpPr>
        <p:spPr>
          <a:xfrm>
            <a:off x="1417320" y="4169664"/>
            <a:ext cx="7955280" cy="502920"/>
          </a:xfrm>
          <a:prstGeom prst="rect">
            <a:avLst/>
          </a:prstGeom>
          <a:noFill/>
          <a:ln/>
        </p:spPr>
        <p:txBody>
          <a:bodyPr wrap="square" lIns="0" tIns="0" rIns="0" bIns="0" rtlCol="0" anchor="ctr"/>
          <a:lstStyle/>
          <a:p>
            <a:pPr indent="0" marL="0">
              <a:buNone/>
            </a:pPr>
            <a:r>
              <a:rPr lang="en-US" sz="1500" b="1" dirty="0">
                <a:solidFill>
                  <a:srgbClr val="26303B"/>
                </a:solidFill>
                <a:latin typeface="Calibri" pitchFamily="34" charset="0"/>
                <a:ea typeface="Calibri" pitchFamily="34" charset="-122"/>
                <a:cs typeface="Calibri" pitchFamily="34" charset="-120"/>
              </a:rPr>
              <a:t>Laboratorio: la mappa degli impatti   </a:t>
            </a:r>
            <a:pPr indent="0" marL="0">
              <a:buNone/>
            </a:pPr>
            <a:r>
              <a:rPr lang="en-US" sz="1250" dirty="0">
                <a:solidFill>
                  <a:srgbClr val="5B6B7C"/>
                </a:solidFill>
                <a:latin typeface="Calibri" pitchFamily="34" charset="0"/>
                <a:ea typeface="Calibri" pitchFamily="34" charset="-122"/>
                <a:cs typeface="Calibri" pitchFamily="34" charset="-120"/>
              </a:rPr>
              <a:t>dove l'algoritmo tocca i vostri studenti</a:t>
            </a:r>
            <a:endParaRPr lang="en-US" sz="1500" dirty="0"/>
          </a:p>
        </p:txBody>
      </p:sp>
      <p:sp>
        <p:nvSpPr>
          <p:cNvPr id="25" name="Text 23"/>
          <p:cNvSpPr/>
          <p:nvPr/>
        </p:nvSpPr>
        <p:spPr>
          <a:xfrm>
            <a:off x="9692640" y="4169664"/>
            <a:ext cx="1828800" cy="502920"/>
          </a:xfrm>
          <a:prstGeom prst="rect">
            <a:avLst/>
          </a:prstGeom>
          <a:noFill/>
          <a:ln/>
        </p:spPr>
        <p:txBody>
          <a:bodyPr wrap="square" lIns="0" tIns="0" rIns="0" bIns="0" rtlCol="0" anchor="ctr"/>
          <a:lstStyle/>
          <a:p>
            <a:pPr algn="r" indent="0" marL="0">
              <a:buNone/>
            </a:pPr>
            <a:r>
              <a:rPr lang="en-US" sz="1250" dirty="0">
                <a:solidFill>
                  <a:srgbClr val="5B6B7C"/>
                </a:solidFill>
                <a:latin typeface="Calibri" pitchFamily="34" charset="0"/>
                <a:ea typeface="Calibri" pitchFamily="34" charset="-122"/>
                <a:cs typeface="Calibri" pitchFamily="34" charset="-120"/>
              </a:rPr>
              <a:t>17:05</a:t>
            </a:r>
            <a:endParaRPr lang="en-US" sz="1250" dirty="0"/>
          </a:p>
        </p:txBody>
      </p:sp>
      <p:sp>
        <p:nvSpPr>
          <p:cNvPr id="26" name="Shape 24"/>
          <p:cNvSpPr/>
          <p:nvPr/>
        </p:nvSpPr>
        <p:spPr>
          <a:xfrm>
            <a:off x="822960" y="4864608"/>
            <a:ext cx="402336" cy="402336"/>
          </a:xfrm>
          <a:prstGeom prst="ellipse">
            <a:avLst/>
          </a:prstGeom>
          <a:solidFill>
            <a:srgbClr val="F96167"/>
          </a:solidFill>
          <a:ln w="12700">
            <a:solidFill>
              <a:srgbClr val="F96167"/>
            </a:solidFill>
            <a:prstDash val="solid"/>
          </a:ln>
        </p:spPr>
      </p:sp>
      <p:sp>
        <p:nvSpPr>
          <p:cNvPr id="27" name="Text 25"/>
          <p:cNvSpPr/>
          <p:nvPr/>
        </p:nvSpPr>
        <p:spPr>
          <a:xfrm>
            <a:off x="822960" y="486460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6</a:t>
            </a:r>
            <a:endParaRPr lang="en-US" sz="1300" dirty="0"/>
          </a:p>
        </p:txBody>
      </p:sp>
      <p:sp>
        <p:nvSpPr>
          <p:cNvPr id="28" name="Text 26"/>
          <p:cNvSpPr/>
          <p:nvPr/>
        </p:nvSpPr>
        <p:spPr>
          <a:xfrm>
            <a:off x="1417320" y="4828032"/>
            <a:ext cx="7955280" cy="502920"/>
          </a:xfrm>
          <a:prstGeom prst="rect">
            <a:avLst/>
          </a:prstGeom>
          <a:noFill/>
          <a:ln/>
        </p:spPr>
        <p:txBody>
          <a:bodyPr wrap="square" lIns="0" tIns="0" rIns="0" bIns="0" rtlCol="0" anchor="ctr"/>
          <a:lstStyle/>
          <a:p>
            <a:pPr indent="0" marL="0">
              <a:buNone/>
            </a:pPr>
            <a:r>
              <a:rPr lang="en-US" sz="1500" b="1" dirty="0">
                <a:solidFill>
                  <a:srgbClr val="26303B"/>
                </a:solidFill>
                <a:latin typeface="Calibri" pitchFamily="34" charset="0"/>
                <a:ea typeface="Calibri" pitchFamily="34" charset="-122"/>
                <a:cs typeface="Calibri" pitchFamily="34" charset="-120"/>
              </a:rPr>
              <a:t>Chiusura e consegne   </a:t>
            </a:r>
            <a:pPr indent="0" marL="0">
              <a:buNone/>
            </a:pPr>
            <a:r>
              <a:rPr lang="en-US" sz="1250" dirty="0">
                <a:solidFill>
                  <a:srgbClr val="5B6B7C"/>
                </a:solidFill>
                <a:latin typeface="Calibri" pitchFamily="34" charset="0"/>
                <a:ea typeface="Calibri" pitchFamily="34" charset="-122"/>
                <a:cs typeface="Calibri" pitchFamily="34" charset="-120"/>
              </a:rPr>
              <a:t>il patto d'aula del corso</a:t>
            </a:r>
            <a:endParaRPr lang="en-US" sz="1500" dirty="0"/>
          </a:p>
        </p:txBody>
      </p:sp>
      <p:sp>
        <p:nvSpPr>
          <p:cNvPr id="29" name="Text 27"/>
          <p:cNvSpPr/>
          <p:nvPr/>
        </p:nvSpPr>
        <p:spPr>
          <a:xfrm>
            <a:off x="9692640" y="4828032"/>
            <a:ext cx="1828800" cy="502920"/>
          </a:xfrm>
          <a:prstGeom prst="rect">
            <a:avLst/>
          </a:prstGeom>
          <a:noFill/>
          <a:ln/>
        </p:spPr>
        <p:txBody>
          <a:bodyPr wrap="square" lIns="0" tIns="0" rIns="0" bIns="0" rtlCol="0" anchor="ctr"/>
          <a:lstStyle/>
          <a:p>
            <a:pPr algn="r" indent="0" marL="0">
              <a:buNone/>
            </a:pPr>
            <a:r>
              <a:rPr lang="en-US" sz="1250" dirty="0">
                <a:solidFill>
                  <a:srgbClr val="5B6B7C"/>
                </a:solidFill>
                <a:latin typeface="Calibri" pitchFamily="34" charset="0"/>
                <a:ea typeface="Calibri" pitchFamily="34" charset="-122"/>
                <a:cs typeface="Calibri" pitchFamily="34" charset="-120"/>
              </a:rPr>
              <a:t>17:50</a:t>
            </a:r>
            <a:endParaRPr lang="en-US" sz="1250" dirty="0"/>
          </a:p>
        </p:txBody>
      </p:sp>
      <p:sp>
        <p:nvSpPr>
          <p:cNvPr id="30" name="Shape 28"/>
          <p:cNvSpPr/>
          <p:nvPr/>
        </p:nvSpPr>
        <p:spPr>
          <a:xfrm>
            <a:off x="822960" y="5577840"/>
            <a:ext cx="10607040" cy="1170432"/>
          </a:xfrm>
          <a:prstGeom prst="roundRect">
            <a:avLst>
              <a:gd name="adj" fmla="val 7031"/>
            </a:avLst>
          </a:prstGeom>
          <a:solidFill>
            <a:srgbClr val="E9F1FB"/>
          </a:solidFill>
          <a:ln w="12700">
            <a:solidFill>
              <a:srgbClr val="E9F1FB"/>
            </a:solidFill>
            <a:prstDash val="solid"/>
          </a:ln>
        </p:spPr>
      </p:sp>
      <p:sp>
        <p:nvSpPr>
          <p:cNvPr id="31" name="Text 29"/>
          <p:cNvSpPr/>
          <p:nvPr/>
        </p:nvSpPr>
        <p:spPr>
          <a:xfrm>
            <a:off x="1051560" y="5742432"/>
            <a:ext cx="10149840" cy="320040"/>
          </a:xfrm>
          <a:prstGeom prst="rect">
            <a:avLst/>
          </a:prstGeom>
          <a:noFill/>
          <a:ln/>
        </p:spPr>
        <p:txBody>
          <a:bodyPr wrap="square" lIns="0" tIns="0" rIns="0" bIns="0" rtlCol="0" anchor="ctr"/>
          <a:lstStyle/>
          <a:p>
            <a:pPr indent="0" marL="0">
              <a:buNone/>
            </a:pPr>
            <a:r>
              <a:rPr lang="en-US" sz="1450" b="1" dirty="0">
                <a:solidFill>
                  <a:srgbClr val="1E2761"/>
                </a:solidFill>
                <a:latin typeface="Cambria" pitchFamily="34" charset="0"/>
                <a:ea typeface="Cambria" pitchFamily="34" charset="-122"/>
                <a:cs typeface="Cambria" pitchFamily="34" charset="-120"/>
              </a:rPr>
              <a:t>Patto d'aula</a:t>
            </a:r>
            <a:endParaRPr lang="en-US" sz="1450" dirty="0"/>
          </a:p>
        </p:txBody>
      </p:sp>
      <p:sp>
        <p:nvSpPr>
          <p:cNvPr id="32" name="Text 30"/>
          <p:cNvSpPr/>
          <p:nvPr/>
        </p:nvSpPr>
        <p:spPr>
          <a:xfrm>
            <a:off x="1051560" y="6108192"/>
            <a:ext cx="10149840" cy="484632"/>
          </a:xfrm>
          <a:prstGeom prst="rect">
            <a:avLst/>
          </a:prstGeom>
          <a:noFill/>
          <a:ln/>
        </p:spPr>
        <p:txBody>
          <a:bodyPr wrap="square" lIns="0" tIns="0" rIns="0" bIns="0" rtlCol="0" anchor="t"/>
          <a:lstStyle/>
          <a:p>
            <a:pPr indent="0" marL="0">
              <a:spcAft>
                <a:spcPts val="500"/>
              </a:spcAft>
              <a:buNone/>
            </a:pPr>
            <a:r>
              <a:rPr lang="en-US" sz="1250" dirty="0">
                <a:solidFill>
                  <a:srgbClr val="26303B"/>
                </a:solidFill>
                <a:latin typeface="Calibri" pitchFamily="34" charset="0"/>
                <a:ea typeface="Calibri" pitchFamily="34" charset="-122"/>
                <a:cs typeface="Calibri" pitchFamily="34" charset="-120"/>
              </a:rPr>
              <a:t>L'IA qui è OGGETTO di analisi prima che strumento • ogni affermazione si fonda su una fonte verificata • nessun dato personale di studenti negli strumenti IA — mai</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84048"/>
            <a:ext cx="566928" cy="566928"/>
          </a:xfrm>
          <a:prstGeom prst="ellipse">
            <a:avLst/>
          </a:prstGeom>
          <a:solidFill>
            <a:srgbClr val="1E2761"/>
          </a:solidFill>
          <a:ln w="12700">
            <a:solidFill>
              <a:srgbClr val="1E2761"/>
            </a:solidFill>
            <a:prstDash val="solid"/>
          </a:ln>
        </p:spPr>
      </p:sp>
      <p:sp>
        <p:nvSpPr>
          <p:cNvPr id="3" name="Text 1"/>
          <p:cNvSpPr/>
          <p:nvPr/>
        </p:nvSpPr>
        <p:spPr>
          <a:xfrm>
            <a:off x="502920" y="384048"/>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4" name="Text 2"/>
          <p:cNvSpPr/>
          <p:nvPr/>
        </p:nvSpPr>
        <p:spPr>
          <a:xfrm>
            <a:off x="1234440" y="347472"/>
            <a:ext cx="9601200" cy="274320"/>
          </a:xfrm>
          <a:prstGeom prst="rect">
            <a:avLst/>
          </a:prstGeom>
          <a:noFill/>
          <a:ln/>
        </p:spPr>
        <p:txBody>
          <a:bodyPr wrap="square" lIns="0" tIns="0" rIns="0" bIns="0" rtlCol="0" anchor="ctr"/>
          <a:lstStyle/>
          <a:p>
            <a:pPr indent="0" marL="0">
              <a:buNone/>
            </a:pPr>
            <a:r>
              <a:rPr lang="en-US" sz="1100" dirty="0">
                <a:solidFill>
                  <a:srgbClr val="5B6B7C"/>
                </a:solidFill>
                <a:latin typeface="Calibri" pitchFamily="34" charset="0"/>
                <a:ea typeface="Calibri" pitchFamily="34" charset="-122"/>
                <a:cs typeface="Calibri" pitchFamily="34" charset="-120"/>
              </a:rPr>
              <a:t>Ethic-AI 2 — Etica, Bias e Cittadinanza nell'era dell'IA</a:t>
            </a:r>
            <a:endParaRPr lang="en-US" sz="1100" dirty="0"/>
          </a:p>
        </p:txBody>
      </p:sp>
      <p:sp>
        <p:nvSpPr>
          <p:cNvPr id="5" name="Text 3"/>
          <p:cNvSpPr/>
          <p:nvPr/>
        </p:nvSpPr>
        <p:spPr>
          <a:xfrm>
            <a:off x="1234440" y="566928"/>
            <a:ext cx="10332720" cy="68580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Il mandato civico di questo corso</a:t>
            </a:r>
            <a:endParaRPr lang="en-US" sz="3000" dirty="0"/>
          </a:p>
        </p:txBody>
      </p:sp>
      <p:sp>
        <p:nvSpPr>
          <p:cNvPr id="6" name="Shape 4"/>
          <p:cNvSpPr/>
          <p:nvPr/>
        </p:nvSpPr>
        <p:spPr>
          <a:xfrm>
            <a:off x="822960" y="1737360"/>
            <a:ext cx="4206240" cy="4206240"/>
          </a:xfrm>
          <a:prstGeom prst="roundRect">
            <a:avLst>
              <a:gd name="adj" fmla="val 2174"/>
            </a:avLst>
          </a:prstGeom>
          <a:solidFill>
            <a:srgbClr val="1E2761"/>
          </a:solidFill>
          <a:ln w="12700">
            <a:solidFill>
              <a:srgbClr val="1E2761"/>
            </a:solidFill>
            <a:prstDash val="solid"/>
          </a:ln>
        </p:spPr>
      </p:sp>
      <p:sp>
        <p:nvSpPr>
          <p:cNvPr id="7" name="Text 5"/>
          <p:cNvSpPr/>
          <p:nvPr/>
        </p:nvSpPr>
        <p:spPr>
          <a:xfrm>
            <a:off x="822960" y="2286000"/>
            <a:ext cx="4206240" cy="1463040"/>
          </a:xfrm>
          <a:prstGeom prst="rect">
            <a:avLst/>
          </a:prstGeom>
          <a:noFill/>
          <a:ln/>
        </p:spPr>
        <p:txBody>
          <a:bodyPr wrap="square" lIns="0" tIns="0" rIns="0" bIns="0" rtlCol="0" anchor="ctr"/>
          <a:lstStyle/>
          <a:p>
            <a:pPr algn="ctr" indent="0" marL="0">
              <a:buNone/>
            </a:pPr>
            <a:r>
              <a:rPr lang="en-US" sz="6400" b="1" dirty="0">
                <a:solidFill>
                  <a:srgbClr val="FFFFFF"/>
                </a:solidFill>
                <a:latin typeface="Cambria" pitchFamily="34" charset="0"/>
                <a:ea typeface="Cambria" pitchFamily="34" charset="-122"/>
                <a:cs typeface="Cambria" pitchFamily="34" charset="-120"/>
              </a:rPr>
              <a:t>62%</a:t>
            </a:r>
            <a:endParaRPr lang="en-US" sz="6400" dirty="0"/>
          </a:p>
        </p:txBody>
      </p:sp>
      <p:sp>
        <p:nvSpPr>
          <p:cNvPr id="8" name="Text 6"/>
          <p:cNvSpPr/>
          <p:nvPr/>
        </p:nvSpPr>
        <p:spPr>
          <a:xfrm>
            <a:off x="1097280" y="3794760"/>
            <a:ext cx="3657600" cy="1737360"/>
          </a:xfrm>
          <a:prstGeom prst="rect">
            <a:avLst/>
          </a:prstGeom>
          <a:noFill/>
          <a:ln/>
        </p:spPr>
        <p:txBody>
          <a:bodyPr wrap="square" lIns="0" tIns="0" rIns="0" bIns="0" rtlCol="0" anchor="ctr"/>
          <a:lstStyle/>
          <a:p>
            <a:pPr algn="ctr" indent="0" marL="0">
              <a:buNone/>
            </a:pPr>
            <a:r>
              <a:rPr lang="en-US" sz="1450" dirty="0">
                <a:solidFill>
                  <a:srgbClr val="CADCFC"/>
                </a:solidFill>
                <a:latin typeface="Calibri" pitchFamily="34" charset="0"/>
                <a:ea typeface="Calibri" pitchFamily="34" charset="-122"/>
                <a:cs typeface="Calibri" pitchFamily="34" charset="-120"/>
              </a:rPr>
              <a:t>dei giovani usa l'IA in contesti pratici di apprendimento e lavoro — ma solo il 30% ha ricevuto una formazione formale (UNESCO-UNEVOC 2025)</a:t>
            </a:r>
            <a:endParaRPr lang="en-US" sz="1450" dirty="0"/>
          </a:p>
        </p:txBody>
      </p:sp>
      <p:sp>
        <p:nvSpPr>
          <p:cNvPr id="9" name="Text 7"/>
          <p:cNvSpPr/>
          <p:nvPr/>
        </p:nvSpPr>
        <p:spPr>
          <a:xfrm>
            <a:off x="5577840" y="1828800"/>
            <a:ext cx="6035040" cy="4206240"/>
          </a:xfrm>
          <a:prstGeom prst="rect">
            <a:avLst/>
          </a:prstGeom>
          <a:noFill/>
          <a:ln/>
        </p:spPr>
        <p:txBody>
          <a:bodyPr wrap="square" lIns="0" tIns="0" rIns="0" bIns="0" rtlCol="0" anchor="t"/>
          <a:lstStyle/>
          <a:p>
            <a:pPr marL="177800" indent="-177800">
              <a:spcAft>
                <a:spcPts val="800"/>
              </a:spcAft>
              <a:buSzPct val="100000"/>
              <a:buChar char="•"/>
            </a:pPr>
            <a:r>
              <a:rPr lang="en-US" sz="1500" b="1" dirty="0">
                <a:solidFill>
                  <a:srgbClr val="26303B"/>
                </a:solidFill>
                <a:latin typeface="Calibri" pitchFamily="34" charset="0"/>
                <a:ea typeface="Calibri" pitchFamily="34" charset="-122"/>
                <a:cs typeface="Calibri" pitchFamily="34" charset="-120"/>
              </a:rPr>
              <a:t>Quel divario è il nostro compito: i ragazzi vivono già dentro sistemi algoritmici senza strumenti per leggerli</a:t>
            </a:r>
            <a:endParaRPr lang="en-US" sz="1500" dirty="0"/>
          </a:p>
          <a:p>
            <a:pPr marL="177800" indent="-177800">
              <a:spcAft>
                <a:spcPts val="800"/>
              </a:spcAft>
              <a:buSzPct val="100000"/>
              <a:buChar char="•"/>
            </a:pPr>
            <a:r>
              <a:rPr lang="en-US" sz="1500" dirty="0">
                <a:solidFill>
                  <a:srgbClr val="26303B"/>
                </a:solidFill>
                <a:latin typeface="Calibri" pitchFamily="34" charset="0"/>
                <a:ea typeface="Calibri" pitchFamily="34" charset="-122"/>
                <a:cs typeface="Calibri" pitchFamily="34" charset="-120"/>
              </a:rPr>
              <a:t>WEF 2025: fino al 39% delle competenze chiave si trasformerà entro il 2030</a:t>
            </a:r>
            <a:endParaRPr lang="en-US" sz="1500" dirty="0"/>
          </a:p>
          <a:p>
            <a:pPr marL="177800" indent="-177800">
              <a:spcAft>
                <a:spcPts val="800"/>
              </a:spcAft>
              <a:buSzPct val="100000"/>
              <a:buChar char="•"/>
            </a:pPr>
            <a:r>
              <a:rPr lang="en-US" sz="1500" dirty="0">
                <a:solidFill>
                  <a:srgbClr val="26303B"/>
                </a:solidFill>
                <a:latin typeface="Calibri" pitchFamily="34" charset="0"/>
                <a:ea typeface="Calibri" pitchFamily="34" charset="-122"/>
                <a:cs typeface="Calibri" pitchFamily="34" charset="-120"/>
              </a:rPr>
              <a:t>L'educazione civica digitale non è una materia in più: è la condizione di cittadinanza nell'era degli algoritmi</a:t>
            </a:r>
            <a:endParaRPr lang="en-US" sz="1500" dirty="0"/>
          </a:p>
          <a:p>
            <a:pPr marL="177800" indent="-177800">
              <a:spcAft>
                <a:spcPts val="800"/>
              </a:spcAft>
              <a:buSzPct val="100000"/>
              <a:buChar char="•"/>
            </a:pPr>
            <a:r>
              <a:rPr lang="en-US" sz="1500" dirty="0">
                <a:solidFill>
                  <a:srgbClr val="26303B"/>
                </a:solidFill>
                <a:latin typeface="Calibri" pitchFamily="34" charset="0"/>
                <a:ea typeface="Calibri" pitchFamily="34" charset="-122"/>
                <a:cs typeface="Calibri" pitchFamily="34" charset="-120"/>
              </a:rPr>
              <a:t>Questo corso: 6 incontri, un project work (la vostra UdA di Ed. Civica digitale), una comunità che resta</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84048"/>
            <a:ext cx="566928" cy="566928"/>
          </a:xfrm>
          <a:prstGeom prst="ellipse">
            <a:avLst/>
          </a:prstGeom>
          <a:solidFill>
            <a:srgbClr val="1E2761"/>
          </a:solidFill>
          <a:ln w="12700">
            <a:solidFill>
              <a:srgbClr val="1E2761"/>
            </a:solidFill>
            <a:prstDash val="solid"/>
          </a:ln>
        </p:spPr>
      </p:sp>
      <p:sp>
        <p:nvSpPr>
          <p:cNvPr id="3" name="Text 1"/>
          <p:cNvSpPr/>
          <p:nvPr/>
        </p:nvSpPr>
        <p:spPr>
          <a:xfrm>
            <a:off x="502920" y="384048"/>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4" name="Text 2"/>
          <p:cNvSpPr/>
          <p:nvPr/>
        </p:nvSpPr>
        <p:spPr>
          <a:xfrm>
            <a:off x="1234440" y="347472"/>
            <a:ext cx="9601200" cy="274320"/>
          </a:xfrm>
          <a:prstGeom prst="rect">
            <a:avLst/>
          </a:prstGeom>
          <a:noFill/>
          <a:ln/>
        </p:spPr>
        <p:txBody>
          <a:bodyPr wrap="square" lIns="0" tIns="0" rIns="0" bIns="0" rtlCol="0" anchor="ctr"/>
          <a:lstStyle/>
          <a:p>
            <a:pPr indent="0" marL="0">
              <a:buNone/>
            </a:pPr>
            <a:r>
              <a:rPr lang="en-US" sz="1100" dirty="0">
                <a:solidFill>
                  <a:srgbClr val="5B6B7C"/>
                </a:solidFill>
                <a:latin typeface="Calibri" pitchFamily="34" charset="0"/>
                <a:ea typeface="Calibri" pitchFamily="34" charset="-122"/>
                <a:cs typeface="Calibri" pitchFamily="34" charset="-120"/>
              </a:rPr>
              <a:t>Ethic-AI 2 — Etica, Bias e Cittadinanza nell'era dell'IA</a:t>
            </a:r>
            <a:endParaRPr lang="en-US" sz="1100" dirty="0"/>
          </a:p>
        </p:txBody>
      </p:sp>
      <p:sp>
        <p:nvSpPr>
          <p:cNvPr id="5" name="Text 3"/>
          <p:cNvSpPr/>
          <p:nvPr/>
        </p:nvSpPr>
        <p:spPr>
          <a:xfrm>
            <a:off x="1234440" y="566928"/>
            <a:ext cx="10332720" cy="68580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Algocrazia: dove decidono già gli algoritmi</a:t>
            </a:r>
            <a:endParaRPr lang="en-US" sz="3000" dirty="0"/>
          </a:p>
        </p:txBody>
      </p:sp>
      <p:sp>
        <p:nvSpPr>
          <p:cNvPr id="6" name="Text 4"/>
          <p:cNvSpPr/>
          <p:nvPr/>
        </p:nvSpPr>
        <p:spPr>
          <a:xfrm>
            <a:off x="822960" y="1600200"/>
            <a:ext cx="6492240" cy="4754880"/>
          </a:xfrm>
          <a:prstGeom prst="rect">
            <a:avLst/>
          </a:prstGeom>
          <a:noFill/>
          <a:ln/>
        </p:spPr>
        <p:txBody>
          <a:bodyPr wrap="square" lIns="0" tIns="0" rIns="0" bIns="0" rtlCol="0" anchor="t"/>
          <a:lstStyle/>
          <a:p>
            <a:pPr marL="177800" indent="-177800">
              <a:spcAft>
                <a:spcPts val="800"/>
              </a:spcAft>
              <a:buSzPct val="100000"/>
              <a:buChar char="•"/>
            </a:pPr>
            <a:r>
              <a:rPr lang="en-US" sz="1500" b="1" dirty="0">
                <a:solidFill>
                  <a:srgbClr val="26303B"/>
                </a:solidFill>
                <a:latin typeface="Calibri" pitchFamily="34" charset="0"/>
                <a:ea typeface="Calibri" pitchFamily="34" charset="-122"/>
                <a:cs typeface="Calibri" pitchFamily="34" charset="-120"/>
              </a:rPr>
              <a:t>Credito e assicurazioni: scoring che decide chi accede e a che prezzo</a:t>
            </a:r>
            <a:endParaRPr lang="en-US" sz="1500" dirty="0"/>
          </a:p>
          <a:p>
            <a:pPr marL="177800" indent="-177800">
              <a:spcAft>
                <a:spcPts val="800"/>
              </a:spcAft>
              <a:buSzPct val="100000"/>
              <a:buChar char="•"/>
            </a:pPr>
            <a:r>
              <a:rPr lang="en-US" sz="1500" b="1" dirty="0">
                <a:solidFill>
                  <a:srgbClr val="26303B"/>
                </a:solidFill>
                <a:latin typeface="Calibri" pitchFamily="34" charset="0"/>
                <a:ea typeface="Calibri" pitchFamily="34" charset="-122"/>
                <a:cs typeface="Calibri" pitchFamily="34" charset="-120"/>
              </a:rPr>
              <a:t>Lavoro: screening automatico dei CV, gestione algoritmica dei turni e dei rider</a:t>
            </a:r>
            <a:endParaRPr lang="en-US" sz="1500" dirty="0"/>
          </a:p>
          <a:p>
            <a:pPr marL="177800" indent="-177800">
              <a:spcAft>
                <a:spcPts val="800"/>
              </a:spcAft>
              <a:buSzPct val="100000"/>
              <a:buChar char="•"/>
            </a:pPr>
            <a:r>
              <a:rPr lang="en-US" sz="1500" b="1" dirty="0">
                <a:solidFill>
                  <a:srgbClr val="26303B"/>
                </a:solidFill>
                <a:latin typeface="Calibri" pitchFamily="34" charset="0"/>
                <a:ea typeface="Calibri" pitchFamily="34" charset="-122"/>
                <a:cs typeface="Calibri" pitchFamily="34" charset="-120"/>
              </a:rPr>
              <a:t>Informazione: i sistemi di raccomandazione decidono cosa vediamo (e cosa no)</a:t>
            </a:r>
            <a:endParaRPr lang="en-US" sz="1500" dirty="0"/>
          </a:p>
          <a:p>
            <a:pPr marL="177800" indent="-177800">
              <a:spcAft>
                <a:spcPts val="800"/>
              </a:spcAft>
              <a:buSzPct val="100000"/>
              <a:buChar char="•"/>
            </a:pPr>
            <a:r>
              <a:rPr lang="en-US" sz="1500" dirty="0">
                <a:solidFill>
                  <a:srgbClr val="26303B"/>
                </a:solidFill>
                <a:latin typeface="Calibri" pitchFamily="34" charset="0"/>
                <a:ea typeface="Calibri" pitchFamily="34" charset="-122"/>
                <a:cs typeface="Calibri" pitchFamily="34" charset="-120"/>
              </a:rPr>
              <a:t>Giustizia e sicurezza: risk assessment, sorveglianza — i casi documentati da O'Neil in 'Armi di distruzione matematica'</a:t>
            </a:r>
            <a:endParaRPr lang="en-US" sz="1500" dirty="0"/>
          </a:p>
          <a:p>
            <a:pPr marL="177800" indent="-177800">
              <a:spcAft>
                <a:spcPts val="800"/>
              </a:spcAft>
              <a:buSzPct val="100000"/>
              <a:buChar char="•"/>
            </a:pPr>
            <a:r>
              <a:rPr lang="en-US" sz="1500" dirty="0">
                <a:solidFill>
                  <a:srgbClr val="26303B"/>
                </a:solidFill>
                <a:latin typeface="Calibri" pitchFamily="34" charset="0"/>
                <a:ea typeface="Calibri" pitchFamily="34" charset="-122"/>
                <a:cs typeface="Calibri" pitchFamily="34" charset="-120"/>
              </a:rPr>
              <a:t>E la scuola? Valutazione automatizzata, proctoring, orientamento predittivo: per questo l'AI Act la mette nell'alto rischio</a:t>
            </a:r>
            <a:endParaRPr lang="en-US" sz="1500" dirty="0"/>
          </a:p>
          <a:p>
            <a:pPr marL="177800" indent="-177800">
              <a:spcAft>
                <a:spcPts val="800"/>
              </a:spcAft>
              <a:buSzPct val="100000"/>
              <a:buChar char="•"/>
            </a:pPr>
            <a:r>
              <a:rPr lang="en-US" sz="1500" dirty="0">
                <a:solidFill>
                  <a:srgbClr val="26303B"/>
                </a:solidFill>
                <a:latin typeface="Calibri" pitchFamily="34" charset="0"/>
                <a:ea typeface="Calibri" pitchFamily="34" charset="-122"/>
                <a:cs typeface="Calibri" pitchFamily="34" charset="-120"/>
              </a:rPr>
              <a:t>Il punto non è 'algoritmi cattivi': è che decisioni opache su larga scala richiedono contrappesi — trasparenza, ricorso, supervisione</a:t>
            </a:r>
            <a:endParaRPr lang="en-US" sz="1500" dirty="0"/>
          </a:p>
        </p:txBody>
      </p:sp>
      <p:sp>
        <p:nvSpPr>
          <p:cNvPr id="7" name="Shape 5"/>
          <p:cNvSpPr/>
          <p:nvPr/>
        </p:nvSpPr>
        <p:spPr>
          <a:xfrm>
            <a:off x="7635240" y="1600200"/>
            <a:ext cx="3977640" cy="4480560"/>
          </a:xfrm>
          <a:prstGeom prst="roundRect">
            <a:avLst>
              <a:gd name="adj" fmla="val 2069"/>
            </a:avLst>
          </a:prstGeom>
          <a:solidFill>
            <a:srgbClr val="E9F1FB"/>
          </a:solidFill>
          <a:ln w="12700">
            <a:solidFill>
              <a:srgbClr val="E9F1FB"/>
            </a:solidFill>
            <a:prstDash val="solid"/>
          </a:ln>
        </p:spPr>
      </p:sp>
      <p:sp>
        <p:nvSpPr>
          <p:cNvPr id="8" name="Text 6"/>
          <p:cNvSpPr/>
          <p:nvPr/>
        </p:nvSpPr>
        <p:spPr>
          <a:xfrm>
            <a:off x="7863840" y="1764792"/>
            <a:ext cx="3520440" cy="320040"/>
          </a:xfrm>
          <a:prstGeom prst="rect">
            <a:avLst/>
          </a:prstGeom>
          <a:noFill/>
          <a:ln/>
        </p:spPr>
        <p:txBody>
          <a:bodyPr wrap="square" lIns="0" tIns="0" rIns="0" bIns="0" rtlCol="0" anchor="ctr"/>
          <a:lstStyle/>
          <a:p>
            <a:pPr indent="0" marL="0">
              <a:buNone/>
            </a:pPr>
            <a:r>
              <a:rPr lang="en-US" sz="1450" b="1" dirty="0">
                <a:solidFill>
                  <a:srgbClr val="1E2761"/>
                </a:solidFill>
                <a:latin typeface="Cambria" pitchFamily="34" charset="0"/>
                <a:ea typeface="Cambria" pitchFamily="34" charset="-122"/>
                <a:cs typeface="Cambria" pitchFamily="34" charset="-120"/>
              </a:rPr>
              <a:t>Automazione cognitiva</a:t>
            </a:r>
            <a:endParaRPr lang="en-US" sz="1450" dirty="0"/>
          </a:p>
        </p:txBody>
      </p:sp>
      <p:sp>
        <p:nvSpPr>
          <p:cNvPr id="9" name="Text 7"/>
          <p:cNvSpPr/>
          <p:nvPr/>
        </p:nvSpPr>
        <p:spPr>
          <a:xfrm>
            <a:off x="7863840" y="2130552"/>
            <a:ext cx="3520440" cy="3794760"/>
          </a:xfrm>
          <a:prstGeom prst="rect">
            <a:avLst/>
          </a:prstGeom>
          <a:noFill/>
          <a:ln/>
        </p:spPr>
        <p:txBody>
          <a:bodyPr wrap="square" lIns="0" tIns="0" rIns="0" bIns="0" rtlCol="0" anchor="t"/>
          <a:lstStyle/>
          <a:p>
            <a:pPr marL="152400" indent="-152400">
              <a:spcAft>
                <a:spcPts val="500"/>
              </a:spcAft>
              <a:buSzPct val="100000"/>
              <a:buChar char="•"/>
            </a:pPr>
            <a:r>
              <a:rPr lang="en-US" sz="1250" dirty="0">
                <a:solidFill>
                  <a:srgbClr val="26303B"/>
                </a:solidFill>
                <a:latin typeface="Calibri" pitchFamily="34" charset="0"/>
                <a:ea typeface="Calibri" pitchFamily="34" charset="-122"/>
                <a:cs typeface="Calibri" pitchFamily="34" charset="-120"/>
              </a:rPr>
              <a:t>Non automatizza il gesto: automatizza la decisione</a:t>
            </a:r>
            <a:endParaRPr lang="en-US" sz="1250" dirty="0"/>
          </a:p>
          <a:p>
            <a:pPr marL="152400" indent="-152400">
              <a:spcAft>
                <a:spcPts val="500"/>
              </a:spcAft>
              <a:buSzPct val="100000"/>
              <a:buChar char="•"/>
            </a:pPr>
            <a:r>
              <a:rPr lang="en-US" sz="1250" dirty="0">
                <a:solidFill>
                  <a:srgbClr val="26303B"/>
                </a:solidFill>
                <a:latin typeface="Calibri" pitchFamily="34" charset="0"/>
                <a:ea typeface="Calibri" pitchFamily="34" charset="-122"/>
                <a:cs typeface="Calibri" pitchFamily="34" charset="-120"/>
              </a:rPr>
              <a:t>Chi non sa leggerla, la subisce</a:t>
            </a:r>
            <a:endParaRPr lang="en-US" sz="1250" dirty="0"/>
          </a:p>
          <a:p>
            <a:pPr marL="152400" indent="-152400">
              <a:spcAft>
                <a:spcPts val="500"/>
              </a:spcAft>
              <a:buSzPct val="100000"/>
              <a:buChar char="•"/>
            </a:pPr>
            <a:r>
              <a:rPr lang="en-US" sz="1250" b="1" dirty="0">
                <a:solidFill>
                  <a:srgbClr val="26303B"/>
                </a:solidFill>
                <a:latin typeface="Calibri" pitchFamily="34" charset="0"/>
                <a:ea typeface="Calibri" pitchFamily="34" charset="-122"/>
                <a:cs typeface="Calibri" pitchFamily="34" charset="-120"/>
              </a:rPr>
              <a:t>Leggere gli algoritmi è la nuova alfabetizzazione civica</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84048"/>
            <a:ext cx="566928" cy="566928"/>
          </a:xfrm>
          <a:prstGeom prst="ellipse">
            <a:avLst/>
          </a:prstGeom>
          <a:solidFill>
            <a:srgbClr val="1E2761"/>
          </a:solidFill>
          <a:ln w="12700">
            <a:solidFill>
              <a:srgbClr val="1E2761"/>
            </a:solidFill>
            <a:prstDash val="solid"/>
          </a:ln>
        </p:spPr>
      </p:sp>
      <p:sp>
        <p:nvSpPr>
          <p:cNvPr id="3" name="Text 1"/>
          <p:cNvSpPr/>
          <p:nvPr/>
        </p:nvSpPr>
        <p:spPr>
          <a:xfrm>
            <a:off x="502920" y="384048"/>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4" name="Text 2"/>
          <p:cNvSpPr/>
          <p:nvPr/>
        </p:nvSpPr>
        <p:spPr>
          <a:xfrm>
            <a:off x="1234440" y="347472"/>
            <a:ext cx="9601200" cy="274320"/>
          </a:xfrm>
          <a:prstGeom prst="rect">
            <a:avLst/>
          </a:prstGeom>
          <a:noFill/>
          <a:ln/>
        </p:spPr>
        <p:txBody>
          <a:bodyPr wrap="square" lIns="0" tIns="0" rIns="0" bIns="0" rtlCol="0" anchor="ctr"/>
          <a:lstStyle/>
          <a:p>
            <a:pPr indent="0" marL="0">
              <a:buNone/>
            </a:pPr>
            <a:r>
              <a:rPr lang="en-US" sz="1100" dirty="0">
                <a:solidFill>
                  <a:srgbClr val="5B6B7C"/>
                </a:solidFill>
                <a:latin typeface="Calibri" pitchFamily="34" charset="0"/>
                <a:ea typeface="Calibri" pitchFamily="34" charset="-122"/>
                <a:cs typeface="Calibri" pitchFamily="34" charset="-120"/>
              </a:rPr>
              <a:t>Ethic-AI 2 — Etica, Bias e Cittadinanza nell'era dell'IA</a:t>
            </a:r>
            <a:endParaRPr lang="en-US" sz="1100" dirty="0"/>
          </a:p>
        </p:txBody>
      </p:sp>
      <p:sp>
        <p:nvSpPr>
          <p:cNvPr id="5" name="Text 3"/>
          <p:cNvSpPr/>
          <p:nvPr/>
        </p:nvSpPr>
        <p:spPr>
          <a:xfrm>
            <a:off x="1234440" y="566928"/>
            <a:ext cx="10332720" cy="68580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L'AI Act in pratica (per la scuola)</a:t>
            </a:r>
            <a:endParaRPr lang="en-US" sz="3000" dirty="0"/>
          </a:p>
        </p:txBody>
      </p:sp>
      <p:sp>
        <p:nvSpPr>
          <p:cNvPr id="6" name="Text 4"/>
          <p:cNvSpPr/>
          <p:nvPr/>
        </p:nvSpPr>
        <p:spPr>
          <a:xfrm>
            <a:off x="822960" y="1600200"/>
            <a:ext cx="10515600" cy="4754880"/>
          </a:xfrm>
          <a:prstGeom prst="rect">
            <a:avLst/>
          </a:prstGeom>
          <a:noFill/>
          <a:ln/>
        </p:spPr>
        <p:txBody>
          <a:bodyPr wrap="square" lIns="0" tIns="0" rIns="0" bIns="0" rtlCol="0" anchor="t"/>
          <a:lstStyle/>
          <a:p>
            <a:pPr marL="177800" indent="-177800">
              <a:spcAft>
                <a:spcPts val="800"/>
              </a:spcAft>
              <a:buSzPct val="100000"/>
              <a:buChar char="•"/>
            </a:pPr>
            <a:r>
              <a:rPr lang="en-US" sz="1500" b="1" dirty="0">
                <a:solidFill>
                  <a:srgbClr val="26303B"/>
                </a:solidFill>
                <a:latin typeface="Calibri" pitchFamily="34" charset="0"/>
                <a:ea typeface="Calibri" pitchFamily="34" charset="-122"/>
                <a:cs typeface="Calibri" pitchFamily="34" charset="-120"/>
              </a:rPr>
              <a:t>Piramide dei rischi: vietato / alto rischio / rischio limitato / minimo — pienamente applicabile dal 2 agosto 2026</a:t>
            </a:r>
            <a:endParaRPr lang="en-US" sz="1500" dirty="0"/>
          </a:p>
          <a:p>
            <a:pPr marL="177800" indent="-177800">
              <a:spcAft>
                <a:spcPts val="800"/>
              </a:spcAft>
              <a:buSzPct val="100000"/>
              <a:buChar char="•"/>
            </a:pPr>
            <a:r>
              <a:rPr lang="en-US" sz="1500" dirty="0">
                <a:solidFill>
                  <a:srgbClr val="26303B"/>
                </a:solidFill>
                <a:latin typeface="Calibri" pitchFamily="34" charset="0"/>
                <a:ea typeface="Calibri" pitchFamily="34" charset="-122"/>
                <a:cs typeface="Calibri" pitchFamily="34" charset="-120"/>
              </a:rPr>
              <a:t>Pratiche VIETATE che toccano la scuola: social scoring, riconoscimento delle emozioni in classe, scraping biometrico</a:t>
            </a:r>
            <a:endParaRPr lang="en-US" sz="1500" dirty="0"/>
          </a:p>
          <a:p>
            <a:pPr marL="177800" indent="-177800">
              <a:spcAft>
                <a:spcPts val="800"/>
              </a:spcAft>
              <a:buSzPct val="100000"/>
              <a:buChar char="•"/>
            </a:pPr>
            <a:r>
              <a:rPr lang="en-US" sz="1500" dirty="0">
                <a:solidFill>
                  <a:srgbClr val="26303B"/>
                </a:solidFill>
                <a:latin typeface="Calibri" pitchFamily="34" charset="0"/>
                <a:ea typeface="Calibri" pitchFamily="34" charset="-122"/>
                <a:cs typeface="Calibri" pitchFamily="34" charset="-120"/>
              </a:rPr>
              <a:t>ALTO RISCHIO (All. III — istruzione): sistemi che valutano studenti, decidono ammissioni, assegnano percorsi — obblighi stringenti per chi li usa</a:t>
            </a:r>
            <a:endParaRPr lang="en-US" sz="1500" dirty="0"/>
          </a:p>
          <a:p>
            <a:pPr marL="177800" indent="-177800">
              <a:spcAft>
                <a:spcPts val="800"/>
              </a:spcAft>
              <a:buSzPct val="100000"/>
              <a:buChar char="•"/>
            </a:pPr>
            <a:r>
              <a:rPr lang="en-US" sz="1500" dirty="0">
                <a:solidFill>
                  <a:srgbClr val="26303B"/>
                </a:solidFill>
                <a:latin typeface="Calibri" pitchFamily="34" charset="0"/>
                <a:ea typeface="Calibri" pitchFamily="34" charset="-122"/>
                <a:cs typeface="Calibri" pitchFamily="34" charset="-120"/>
              </a:rPr>
              <a:t>RISCHIO LIMITATO (i nostri usi): obblighi di trasparenza — sapere e dire che si interagisce con un'IA</a:t>
            </a:r>
            <a:endParaRPr lang="en-US" sz="1500" dirty="0"/>
          </a:p>
          <a:p>
            <a:pPr marL="177800" indent="-177800">
              <a:spcAft>
                <a:spcPts val="800"/>
              </a:spcAft>
              <a:buSzPct val="100000"/>
              <a:buChar char="•"/>
            </a:pPr>
            <a:r>
              <a:rPr lang="en-US" sz="1500" dirty="0">
                <a:solidFill>
                  <a:srgbClr val="26303B"/>
                </a:solidFill>
                <a:latin typeface="Calibri" pitchFamily="34" charset="0"/>
                <a:ea typeface="Calibri" pitchFamily="34" charset="-122"/>
                <a:cs typeface="Calibri" pitchFamily="34" charset="-120"/>
              </a:rPr>
              <a:t>Art. 4: alfabetizzazione IA del personale = obbligo del deployer. Con L. 132/2025 e DM 166/2025 chiude il quadro italiano</a:t>
            </a:r>
            <a:endParaRPr lang="en-US" sz="1500" dirty="0"/>
          </a:p>
          <a:p>
            <a:pPr marL="177800" indent="-177800">
              <a:spcAft>
                <a:spcPts val="800"/>
              </a:spcAft>
              <a:buSzPct val="100000"/>
              <a:buChar char="•"/>
            </a:pPr>
            <a:r>
              <a:rPr lang="en-US" sz="1500" b="1" dirty="0">
                <a:solidFill>
                  <a:srgbClr val="26303B"/>
                </a:solidFill>
                <a:latin typeface="Calibri" pitchFamily="34" charset="0"/>
                <a:ea typeface="Calibri" pitchFamily="34" charset="-122"/>
                <a:cs typeface="Calibri" pitchFamily="34" charset="-120"/>
              </a:rPr>
              <a:t>Messaggio per il curricolo: l'AI Act è esso stesso CONTENUTO di educazione civica — diritto vivente da portare in classe</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84048"/>
            <a:ext cx="566928" cy="566928"/>
          </a:xfrm>
          <a:prstGeom prst="ellipse">
            <a:avLst/>
          </a:prstGeom>
          <a:solidFill>
            <a:srgbClr val="1E2761"/>
          </a:solidFill>
          <a:ln w="12700">
            <a:solidFill>
              <a:srgbClr val="1E2761"/>
            </a:solidFill>
            <a:prstDash val="solid"/>
          </a:ln>
        </p:spPr>
      </p:sp>
      <p:sp>
        <p:nvSpPr>
          <p:cNvPr id="3" name="Text 1"/>
          <p:cNvSpPr/>
          <p:nvPr/>
        </p:nvSpPr>
        <p:spPr>
          <a:xfrm>
            <a:off x="502920" y="384048"/>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4" name="Text 2"/>
          <p:cNvSpPr/>
          <p:nvPr/>
        </p:nvSpPr>
        <p:spPr>
          <a:xfrm>
            <a:off x="1234440" y="347472"/>
            <a:ext cx="9601200" cy="274320"/>
          </a:xfrm>
          <a:prstGeom prst="rect">
            <a:avLst/>
          </a:prstGeom>
          <a:noFill/>
          <a:ln/>
        </p:spPr>
        <p:txBody>
          <a:bodyPr wrap="square" lIns="0" tIns="0" rIns="0" bIns="0" rtlCol="0" anchor="ctr"/>
          <a:lstStyle/>
          <a:p>
            <a:pPr indent="0" marL="0">
              <a:buNone/>
            </a:pPr>
            <a:r>
              <a:rPr lang="en-US" sz="1100" dirty="0">
                <a:solidFill>
                  <a:srgbClr val="5B6B7C"/>
                </a:solidFill>
                <a:latin typeface="Calibri" pitchFamily="34" charset="0"/>
                <a:ea typeface="Calibri" pitchFamily="34" charset="-122"/>
                <a:cs typeface="Calibri" pitchFamily="34" charset="-120"/>
              </a:rPr>
              <a:t>Ethic-AI 2 — Etica, Bias e Cittadinanza nell'era dell'IA</a:t>
            </a:r>
            <a:endParaRPr lang="en-US" sz="1100" dirty="0"/>
          </a:p>
        </p:txBody>
      </p:sp>
      <p:sp>
        <p:nvSpPr>
          <p:cNvPr id="5" name="Text 3"/>
          <p:cNvSpPr/>
          <p:nvPr/>
        </p:nvSpPr>
        <p:spPr>
          <a:xfrm>
            <a:off x="1234440" y="566928"/>
            <a:ext cx="10332720" cy="68580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Copilota o decisore?</a:t>
            </a:r>
            <a:endParaRPr lang="en-US" sz="3000" dirty="0"/>
          </a:p>
        </p:txBody>
      </p:sp>
      <p:sp>
        <p:nvSpPr>
          <p:cNvPr id="6" name="Shape 4"/>
          <p:cNvSpPr/>
          <p:nvPr/>
        </p:nvSpPr>
        <p:spPr>
          <a:xfrm>
            <a:off x="822960" y="1645920"/>
            <a:ext cx="5166360" cy="4480560"/>
          </a:xfrm>
          <a:prstGeom prst="roundRect">
            <a:avLst>
              <a:gd name="adj" fmla="val 1837"/>
            </a:avLst>
          </a:prstGeom>
          <a:solidFill>
            <a:srgbClr val="E9F1FB"/>
          </a:solidFill>
          <a:ln w="12700">
            <a:solidFill>
              <a:srgbClr val="E9F1FB"/>
            </a:solidFill>
            <a:prstDash val="solid"/>
          </a:ln>
        </p:spPr>
      </p:sp>
      <p:sp>
        <p:nvSpPr>
          <p:cNvPr id="7" name="Text 5"/>
          <p:cNvSpPr/>
          <p:nvPr/>
        </p:nvSpPr>
        <p:spPr>
          <a:xfrm>
            <a:off x="1051560" y="1810512"/>
            <a:ext cx="4709160" cy="320040"/>
          </a:xfrm>
          <a:prstGeom prst="rect">
            <a:avLst/>
          </a:prstGeom>
          <a:noFill/>
          <a:ln/>
        </p:spPr>
        <p:txBody>
          <a:bodyPr wrap="square" lIns="0" tIns="0" rIns="0" bIns="0" rtlCol="0" anchor="ctr"/>
          <a:lstStyle/>
          <a:p>
            <a:pPr indent="0" marL="0">
              <a:buNone/>
            </a:pPr>
            <a:r>
              <a:rPr lang="en-US" sz="1450" b="1" dirty="0">
                <a:solidFill>
                  <a:srgbClr val="F96167"/>
                </a:solidFill>
                <a:latin typeface="Cambria" pitchFamily="34" charset="0"/>
                <a:ea typeface="Cambria" pitchFamily="34" charset="-122"/>
                <a:cs typeface="Cambria" pitchFamily="34" charset="-120"/>
              </a:rPr>
              <a:t>IA come decisore (da evitare)</a:t>
            </a:r>
            <a:endParaRPr lang="en-US" sz="1450" dirty="0"/>
          </a:p>
        </p:txBody>
      </p:sp>
      <p:sp>
        <p:nvSpPr>
          <p:cNvPr id="8" name="Text 6"/>
          <p:cNvSpPr/>
          <p:nvPr/>
        </p:nvSpPr>
        <p:spPr>
          <a:xfrm>
            <a:off x="1051560" y="2176272"/>
            <a:ext cx="4709160" cy="3794760"/>
          </a:xfrm>
          <a:prstGeom prst="rect">
            <a:avLst/>
          </a:prstGeom>
          <a:noFill/>
          <a:ln/>
        </p:spPr>
        <p:txBody>
          <a:bodyPr wrap="square" lIns="0" tIns="0" rIns="0" bIns="0" rtlCol="0" anchor="t"/>
          <a:lstStyle/>
          <a:p>
            <a:pPr marL="152400" indent="-152400">
              <a:spcAft>
                <a:spcPts val="500"/>
              </a:spcAft>
              <a:buSzPct val="100000"/>
              <a:buChar char="•"/>
            </a:pPr>
            <a:r>
              <a:rPr lang="en-US" sz="1250" dirty="0">
                <a:solidFill>
                  <a:srgbClr val="26303B"/>
                </a:solidFill>
                <a:latin typeface="Calibri" pitchFamily="34" charset="0"/>
                <a:ea typeface="Calibri" pitchFamily="34" charset="-122"/>
                <a:cs typeface="Calibri" pitchFamily="34" charset="-120"/>
              </a:rPr>
              <a:t>La macchina decide, l'umano ratifica</a:t>
            </a:r>
            <a:endParaRPr lang="en-US" sz="1250" dirty="0"/>
          </a:p>
          <a:p>
            <a:pPr marL="152400" indent="-152400">
              <a:spcAft>
                <a:spcPts val="500"/>
              </a:spcAft>
              <a:buSzPct val="100000"/>
              <a:buChar char="•"/>
            </a:pPr>
            <a:r>
              <a:rPr lang="en-US" sz="1250" dirty="0">
                <a:solidFill>
                  <a:srgbClr val="26303B"/>
                </a:solidFill>
                <a:latin typeface="Calibri" pitchFamily="34" charset="0"/>
                <a:ea typeface="Calibri" pitchFamily="34" charset="-122"/>
                <a:cs typeface="Calibri" pitchFamily="34" charset="-120"/>
              </a:rPr>
              <a:t>Automation bias: più il sistema funziona, meno lo controlliamo</a:t>
            </a:r>
            <a:endParaRPr lang="en-US" sz="1250" dirty="0"/>
          </a:p>
          <a:p>
            <a:pPr marL="152400" indent="-152400">
              <a:spcAft>
                <a:spcPts val="500"/>
              </a:spcAft>
              <a:buSzPct val="100000"/>
              <a:buChar char="•"/>
            </a:pPr>
            <a:r>
              <a:rPr lang="en-US" sz="1250" dirty="0">
                <a:solidFill>
                  <a:srgbClr val="26303B"/>
                </a:solidFill>
                <a:latin typeface="Calibri" pitchFamily="34" charset="0"/>
                <a:ea typeface="Calibri" pitchFamily="34" charset="-122"/>
                <a:cs typeface="Calibri" pitchFamily="34" charset="-120"/>
              </a:rPr>
              <a:t>Responsabilità che evapora: 'lo ha detto l'algoritmo'</a:t>
            </a:r>
            <a:endParaRPr lang="en-US" sz="1250" dirty="0"/>
          </a:p>
          <a:p>
            <a:pPr marL="152400" indent="-152400">
              <a:spcAft>
                <a:spcPts val="500"/>
              </a:spcAft>
              <a:buSzPct val="100000"/>
              <a:buChar char="•"/>
            </a:pPr>
            <a:r>
              <a:rPr lang="en-US" sz="1250" b="1" dirty="0">
                <a:solidFill>
                  <a:srgbClr val="26303B"/>
                </a:solidFill>
                <a:latin typeface="Calibri" pitchFamily="34" charset="0"/>
                <a:ea typeface="Calibri" pitchFamily="34" charset="-122"/>
                <a:cs typeface="Calibri" pitchFamily="34" charset="-120"/>
              </a:rPr>
              <a:t>Nella scuola: valutazioni e giudizi delegati = illegittimo oltre che sbagliato</a:t>
            </a:r>
            <a:endParaRPr lang="en-US" sz="1250" dirty="0"/>
          </a:p>
        </p:txBody>
      </p:sp>
      <p:sp>
        <p:nvSpPr>
          <p:cNvPr id="9" name="Shape 7"/>
          <p:cNvSpPr/>
          <p:nvPr/>
        </p:nvSpPr>
        <p:spPr>
          <a:xfrm>
            <a:off x="6263640" y="1645920"/>
            <a:ext cx="5166360" cy="4480560"/>
          </a:xfrm>
          <a:prstGeom prst="roundRect">
            <a:avLst>
              <a:gd name="adj" fmla="val 1837"/>
            </a:avLst>
          </a:prstGeom>
          <a:solidFill>
            <a:srgbClr val="E9F1FB"/>
          </a:solidFill>
          <a:ln w="12700">
            <a:solidFill>
              <a:srgbClr val="E9F1FB"/>
            </a:solidFill>
            <a:prstDash val="solid"/>
          </a:ln>
        </p:spPr>
      </p:sp>
      <p:sp>
        <p:nvSpPr>
          <p:cNvPr id="10" name="Text 8"/>
          <p:cNvSpPr/>
          <p:nvPr/>
        </p:nvSpPr>
        <p:spPr>
          <a:xfrm>
            <a:off x="6492240" y="1810512"/>
            <a:ext cx="4709160" cy="320040"/>
          </a:xfrm>
          <a:prstGeom prst="rect">
            <a:avLst/>
          </a:prstGeom>
          <a:noFill/>
          <a:ln/>
        </p:spPr>
        <p:txBody>
          <a:bodyPr wrap="square" lIns="0" tIns="0" rIns="0" bIns="0" rtlCol="0" anchor="ctr"/>
          <a:lstStyle/>
          <a:p>
            <a:pPr indent="0" marL="0">
              <a:buNone/>
            </a:pPr>
            <a:r>
              <a:rPr lang="en-US" sz="1450" b="1" dirty="0">
                <a:solidFill>
                  <a:srgbClr val="2C7A4B"/>
                </a:solidFill>
                <a:latin typeface="Cambria" pitchFamily="34" charset="0"/>
                <a:ea typeface="Cambria" pitchFamily="34" charset="-122"/>
                <a:cs typeface="Cambria" pitchFamily="34" charset="-120"/>
              </a:rPr>
              <a:t>IA come copilota (DM 166/2025)</a:t>
            </a:r>
            <a:endParaRPr lang="en-US" sz="1450" dirty="0"/>
          </a:p>
        </p:txBody>
      </p:sp>
      <p:sp>
        <p:nvSpPr>
          <p:cNvPr id="11" name="Text 9"/>
          <p:cNvSpPr/>
          <p:nvPr/>
        </p:nvSpPr>
        <p:spPr>
          <a:xfrm>
            <a:off x="6492240" y="2176272"/>
            <a:ext cx="4709160" cy="3794760"/>
          </a:xfrm>
          <a:prstGeom prst="rect">
            <a:avLst/>
          </a:prstGeom>
          <a:noFill/>
          <a:ln/>
        </p:spPr>
        <p:txBody>
          <a:bodyPr wrap="square" lIns="0" tIns="0" rIns="0" bIns="0" rtlCol="0" anchor="t"/>
          <a:lstStyle/>
          <a:p>
            <a:pPr marL="152400" indent="-152400">
              <a:spcAft>
                <a:spcPts val="500"/>
              </a:spcAft>
              <a:buSzPct val="100000"/>
              <a:buChar char="•"/>
            </a:pPr>
            <a:r>
              <a:rPr lang="en-US" sz="1250" dirty="0">
                <a:solidFill>
                  <a:srgbClr val="26303B"/>
                </a:solidFill>
                <a:latin typeface="Calibri" pitchFamily="34" charset="0"/>
                <a:ea typeface="Calibri" pitchFamily="34" charset="-122"/>
                <a:cs typeface="Calibri" pitchFamily="34" charset="-120"/>
              </a:rPr>
              <a:t>La macchina propone, l'umano decide e risponde</a:t>
            </a:r>
            <a:endParaRPr lang="en-US" sz="1250" dirty="0"/>
          </a:p>
          <a:p>
            <a:pPr marL="152400" indent="-152400">
              <a:spcAft>
                <a:spcPts val="500"/>
              </a:spcAft>
              <a:buSzPct val="100000"/>
              <a:buChar char="•"/>
            </a:pPr>
            <a:r>
              <a:rPr lang="en-US" sz="1250" dirty="0">
                <a:solidFill>
                  <a:srgbClr val="26303B"/>
                </a:solidFill>
                <a:latin typeface="Calibri" pitchFamily="34" charset="0"/>
                <a:ea typeface="Calibri" pitchFamily="34" charset="-122"/>
                <a:cs typeface="Calibri" pitchFamily="34" charset="-120"/>
              </a:rPr>
              <a:t>Human-in-the-loop BY DESIGN: il flusso si ferma per la revisione</a:t>
            </a:r>
            <a:endParaRPr lang="en-US" sz="1250" dirty="0"/>
          </a:p>
          <a:p>
            <a:pPr marL="152400" indent="-152400">
              <a:spcAft>
                <a:spcPts val="500"/>
              </a:spcAft>
              <a:buSzPct val="100000"/>
              <a:buChar char="•"/>
            </a:pPr>
            <a:r>
              <a:rPr lang="en-US" sz="1250" dirty="0">
                <a:solidFill>
                  <a:srgbClr val="26303B"/>
                </a:solidFill>
                <a:latin typeface="Calibri" pitchFamily="34" charset="0"/>
                <a:ea typeface="Calibri" pitchFamily="34" charset="-122"/>
                <a:cs typeface="Calibri" pitchFamily="34" charset="-120"/>
              </a:rPr>
              <a:t>Supervisione attiva: campionamenti, verifiche, log</a:t>
            </a:r>
            <a:endParaRPr lang="en-US" sz="1250" dirty="0"/>
          </a:p>
          <a:p>
            <a:pPr marL="152400" indent="-152400">
              <a:spcAft>
                <a:spcPts val="500"/>
              </a:spcAft>
              <a:buSzPct val="100000"/>
              <a:buChar char="•"/>
            </a:pPr>
            <a:r>
              <a:rPr lang="en-US" sz="1250" b="1" dirty="0">
                <a:solidFill>
                  <a:srgbClr val="26303B"/>
                </a:solidFill>
                <a:latin typeface="Calibri" pitchFamily="34" charset="0"/>
                <a:ea typeface="Calibri" pitchFamily="34" charset="-122"/>
                <a:cs typeface="Calibri" pitchFamily="34" charset="-120"/>
              </a:rPr>
              <a:t>La responsabilità resta dove può essere esercitata: sulla persona</a:t>
            </a:r>
            <a:endParaRPr lang="en-US" sz="1250" dirty="0"/>
          </a:p>
        </p:txBody>
      </p:sp>
      <p:sp>
        <p:nvSpPr>
          <p:cNvPr id="12" name="Text 10"/>
          <p:cNvSpPr/>
          <p:nvPr/>
        </p:nvSpPr>
        <p:spPr>
          <a:xfrm>
            <a:off x="822960" y="6263640"/>
            <a:ext cx="10607040" cy="365760"/>
          </a:xfrm>
          <a:prstGeom prst="rect">
            <a:avLst/>
          </a:prstGeom>
          <a:noFill/>
          <a:ln/>
        </p:spPr>
        <p:txBody>
          <a:bodyPr wrap="square" lIns="0" tIns="0" rIns="0" bIns="0" rtlCol="0" anchor="ctr"/>
          <a:lstStyle/>
          <a:p>
            <a:pPr indent="0" marL="0">
              <a:buNone/>
            </a:pPr>
            <a:r>
              <a:rPr lang="en-US" sz="1300" i="1" dirty="0">
                <a:solidFill>
                  <a:srgbClr val="5B6B7C"/>
                </a:solidFill>
                <a:latin typeface="Calibri" pitchFamily="34" charset="0"/>
                <a:ea typeface="Calibri" pitchFamily="34" charset="-122"/>
                <a:cs typeface="Calibri" pitchFamily="34" charset="-120"/>
              </a:rPr>
              <a:t>«A human-centric AI is a competitive advantage» — EDPS, 2026. Non è un vincolo: è la posizione europea.</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84048"/>
            <a:ext cx="566928" cy="566928"/>
          </a:xfrm>
          <a:prstGeom prst="ellipse">
            <a:avLst/>
          </a:prstGeom>
          <a:solidFill>
            <a:srgbClr val="1E2761"/>
          </a:solidFill>
          <a:ln w="12700">
            <a:solidFill>
              <a:srgbClr val="1E2761"/>
            </a:solidFill>
            <a:prstDash val="solid"/>
          </a:ln>
        </p:spPr>
      </p:sp>
      <p:sp>
        <p:nvSpPr>
          <p:cNvPr id="3" name="Text 1"/>
          <p:cNvSpPr/>
          <p:nvPr/>
        </p:nvSpPr>
        <p:spPr>
          <a:xfrm>
            <a:off x="502920" y="384048"/>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4" name="Text 2"/>
          <p:cNvSpPr/>
          <p:nvPr/>
        </p:nvSpPr>
        <p:spPr>
          <a:xfrm>
            <a:off x="1234440" y="347472"/>
            <a:ext cx="9601200" cy="274320"/>
          </a:xfrm>
          <a:prstGeom prst="rect">
            <a:avLst/>
          </a:prstGeom>
          <a:noFill/>
          <a:ln/>
        </p:spPr>
        <p:txBody>
          <a:bodyPr wrap="square" lIns="0" tIns="0" rIns="0" bIns="0" rtlCol="0" anchor="ctr"/>
          <a:lstStyle/>
          <a:p>
            <a:pPr indent="0" marL="0">
              <a:buNone/>
            </a:pPr>
            <a:r>
              <a:rPr lang="en-US" sz="1100" dirty="0">
                <a:solidFill>
                  <a:srgbClr val="5B6B7C"/>
                </a:solidFill>
                <a:latin typeface="Calibri" pitchFamily="34" charset="0"/>
                <a:ea typeface="Calibri" pitchFamily="34" charset="-122"/>
                <a:cs typeface="Calibri" pitchFamily="34" charset="-120"/>
              </a:rPr>
              <a:t>Ethic-AI 2 — Etica, Bias e Cittadinanza nell'era dell'IA</a:t>
            </a:r>
            <a:endParaRPr lang="en-US" sz="1100" dirty="0"/>
          </a:p>
        </p:txBody>
      </p:sp>
      <p:sp>
        <p:nvSpPr>
          <p:cNvPr id="5" name="Text 3"/>
          <p:cNvSpPr/>
          <p:nvPr/>
        </p:nvSpPr>
        <p:spPr>
          <a:xfrm>
            <a:off x="1234440" y="566928"/>
            <a:ext cx="10332720" cy="68580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La bussola filosofica del corso</a:t>
            </a:r>
            <a:endParaRPr lang="en-US" sz="3000" dirty="0"/>
          </a:p>
        </p:txBody>
      </p:sp>
      <p:sp>
        <p:nvSpPr>
          <p:cNvPr id="6" name="Text 4"/>
          <p:cNvSpPr/>
          <p:nvPr/>
        </p:nvSpPr>
        <p:spPr>
          <a:xfrm>
            <a:off x="822960" y="1600200"/>
            <a:ext cx="10515600" cy="4754880"/>
          </a:xfrm>
          <a:prstGeom prst="rect">
            <a:avLst/>
          </a:prstGeom>
          <a:noFill/>
          <a:ln/>
        </p:spPr>
        <p:txBody>
          <a:bodyPr wrap="square" lIns="0" tIns="0" rIns="0" bIns="0" rtlCol="0" anchor="t"/>
          <a:lstStyle/>
          <a:p>
            <a:pPr marL="177800" indent="-177800">
              <a:spcAft>
                <a:spcPts val="800"/>
              </a:spcAft>
              <a:buSzPct val="100000"/>
              <a:buChar char="•"/>
            </a:pPr>
            <a:r>
              <a:rPr lang="en-US" sz="1500" b="1" dirty="0">
                <a:solidFill>
                  <a:srgbClr val="26303B"/>
                </a:solidFill>
                <a:latin typeface="Calibri" pitchFamily="34" charset="0"/>
                <a:ea typeface="Calibri" pitchFamily="34" charset="-122"/>
                <a:cs typeface="Calibri" pitchFamily="34" charset="-120"/>
              </a:rPr>
              <a:t>Floridi — viviamo 'onlife' nell'infosfera: l'etica dell'IA è un problema di design, non un freno a valle (4 principi + spiegabilità)</a:t>
            </a:r>
            <a:endParaRPr lang="en-US" sz="1500" dirty="0"/>
          </a:p>
          <a:p>
            <a:pPr marL="177800" indent="-177800">
              <a:spcAft>
                <a:spcPts val="800"/>
              </a:spcAft>
              <a:buSzPct val="100000"/>
              <a:buChar char="•"/>
            </a:pPr>
            <a:r>
              <a:rPr lang="en-US" sz="1500" b="1" dirty="0">
                <a:solidFill>
                  <a:srgbClr val="26303B"/>
                </a:solidFill>
                <a:latin typeface="Calibri" pitchFamily="34" charset="0"/>
                <a:ea typeface="Calibri" pitchFamily="34" charset="-122"/>
                <a:cs typeface="Calibri" pitchFamily="34" charset="-120"/>
              </a:rPr>
              <a:t>Fabris — le tecnologie sono ambienti che ci trasformano: la domanda non è solo 'cosa fa la macchina' ma 'chi diventiamo noi con le macchine'</a:t>
            </a:r>
            <a:endParaRPr lang="en-US" sz="1500" dirty="0"/>
          </a:p>
          <a:p>
            <a:pPr marL="177800" indent="-177800">
              <a:spcAft>
                <a:spcPts val="800"/>
              </a:spcAft>
              <a:buSzPct val="100000"/>
              <a:buChar char="•"/>
            </a:pPr>
            <a:r>
              <a:rPr lang="en-US" sz="1500" b="1" dirty="0">
                <a:solidFill>
                  <a:srgbClr val="26303B"/>
                </a:solidFill>
                <a:latin typeface="Calibri" pitchFamily="34" charset="0"/>
                <a:ea typeface="Calibri" pitchFamily="34" charset="-122"/>
                <a:cs typeface="Calibri" pitchFamily="34" charset="-120"/>
              </a:rPr>
              <a:t>Benanti — l'algoretica: rendere i valori computabili, tradurli in guardrail dentro i sistemi (è ciò che farete con le policy delle UdA)</a:t>
            </a:r>
            <a:endParaRPr lang="en-US" sz="1500" dirty="0"/>
          </a:p>
          <a:p>
            <a:pPr marL="177800" indent="-177800">
              <a:spcAft>
                <a:spcPts val="800"/>
              </a:spcAft>
              <a:buSzPct val="100000"/>
              <a:buChar char="•"/>
            </a:pPr>
            <a:r>
              <a:rPr lang="en-US" sz="1500" b="1" dirty="0">
                <a:solidFill>
                  <a:srgbClr val="26303B"/>
                </a:solidFill>
                <a:latin typeface="Calibri" pitchFamily="34" charset="0"/>
                <a:ea typeface="Calibri" pitchFamily="34" charset="-122"/>
                <a:cs typeface="Calibri" pitchFamily="34" charset="-120"/>
              </a:rPr>
              <a:t>Panai — l'eticista dell'IA è ormai una professione: valutare, misurare, certificare — un mestiere che i vostri studenti potranno fare</a:t>
            </a:r>
            <a:endParaRPr lang="en-US" sz="1500" dirty="0"/>
          </a:p>
          <a:p>
            <a:pPr marL="177800" indent="-177800">
              <a:spcAft>
                <a:spcPts val="800"/>
              </a:spcAft>
              <a:buSzPct val="100000"/>
              <a:buChar char="•"/>
            </a:pPr>
            <a:r>
              <a:rPr lang="en-US" sz="1500" dirty="0">
                <a:solidFill>
                  <a:srgbClr val="26303B"/>
                </a:solidFill>
                <a:latin typeface="Calibri" pitchFamily="34" charset="0"/>
                <a:ea typeface="Calibri" pitchFamily="34" charset="-122"/>
                <a:cs typeface="Calibri" pitchFamily="34" charset="-120"/>
              </a:rPr>
              <a:t>E il magistero: Rome Call for AI Ethics (2020, sei principi firmati anche da big tech e religioni) e la nota Antiqua et Nova (2025): l'IA è funzionalità, l'intelligenza umana è incarnata, relazionale, aperta al senso</a:t>
            </a:r>
            <a:endParaRPr lang="en-US" sz="1500" dirty="0"/>
          </a:p>
          <a:p>
            <a:pPr marL="177800" indent="-177800">
              <a:spcAft>
                <a:spcPts val="800"/>
              </a:spcAft>
              <a:buSzPct val="100000"/>
              <a:buChar char="•"/>
            </a:pPr>
            <a:r>
              <a:rPr lang="en-US" sz="1500" dirty="0">
                <a:solidFill>
                  <a:srgbClr val="26303B"/>
                </a:solidFill>
                <a:latin typeface="Calibri" pitchFamily="34" charset="0"/>
                <a:ea typeface="Calibri" pitchFamily="34" charset="-122"/>
                <a:cs typeface="Calibri" pitchFamily="34" charset="-120"/>
              </a:rPr>
              <a:t>Leone XIV e il nome-programma: come Leone XIII davanti alla rivoluzione industriale (Rerum Novarum), la Chiesa legge l'IA come nuova questione sociale</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84048"/>
            <a:ext cx="566928" cy="566928"/>
          </a:xfrm>
          <a:prstGeom prst="ellipse">
            <a:avLst/>
          </a:prstGeom>
          <a:solidFill>
            <a:srgbClr val="1E2761"/>
          </a:solidFill>
          <a:ln w="12700">
            <a:solidFill>
              <a:srgbClr val="1E2761"/>
            </a:solidFill>
            <a:prstDash val="solid"/>
          </a:ln>
        </p:spPr>
      </p:sp>
      <p:sp>
        <p:nvSpPr>
          <p:cNvPr id="3" name="Text 1"/>
          <p:cNvSpPr/>
          <p:nvPr/>
        </p:nvSpPr>
        <p:spPr>
          <a:xfrm>
            <a:off x="502920" y="384048"/>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4" name="Text 2"/>
          <p:cNvSpPr/>
          <p:nvPr/>
        </p:nvSpPr>
        <p:spPr>
          <a:xfrm>
            <a:off x="1234440" y="347472"/>
            <a:ext cx="9601200" cy="274320"/>
          </a:xfrm>
          <a:prstGeom prst="rect">
            <a:avLst/>
          </a:prstGeom>
          <a:noFill/>
          <a:ln/>
        </p:spPr>
        <p:txBody>
          <a:bodyPr wrap="square" lIns="0" tIns="0" rIns="0" bIns="0" rtlCol="0" anchor="ctr"/>
          <a:lstStyle/>
          <a:p>
            <a:pPr indent="0" marL="0">
              <a:buNone/>
            </a:pPr>
            <a:r>
              <a:rPr lang="en-US" sz="1100" dirty="0">
                <a:solidFill>
                  <a:srgbClr val="5B6B7C"/>
                </a:solidFill>
                <a:latin typeface="Calibri" pitchFamily="34" charset="0"/>
                <a:ea typeface="Calibri" pitchFamily="34" charset="-122"/>
                <a:cs typeface="Calibri" pitchFamily="34" charset="-120"/>
              </a:rPr>
              <a:t>Esercitazione — mani sulla tastiera</a:t>
            </a:r>
            <a:endParaRPr lang="en-US" sz="1100" dirty="0"/>
          </a:p>
        </p:txBody>
      </p:sp>
      <p:sp>
        <p:nvSpPr>
          <p:cNvPr id="5" name="Text 3"/>
          <p:cNvSpPr/>
          <p:nvPr/>
        </p:nvSpPr>
        <p:spPr>
          <a:xfrm>
            <a:off x="1234440" y="566928"/>
            <a:ext cx="10332720" cy="68580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Laboratorio: la mappa degli impatti</a:t>
            </a:r>
            <a:endParaRPr lang="en-US" sz="3000" dirty="0"/>
          </a:p>
        </p:txBody>
      </p:sp>
      <p:sp>
        <p:nvSpPr>
          <p:cNvPr id="6" name="Shape 4"/>
          <p:cNvSpPr/>
          <p:nvPr/>
        </p:nvSpPr>
        <p:spPr>
          <a:xfrm>
            <a:off x="822960" y="1600200"/>
            <a:ext cx="7315200" cy="4572000"/>
          </a:xfrm>
          <a:prstGeom prst="roundRect">
            <a:avLst>
              <a:gd name="adj" fmla="val 1800"/>
            </a:avLst>
          </a:prstGeom>
          <a:solidFill>
            <a:srgbClr val="E9F1FB"/>
          </a:solidFill>
          <a:ln w="12700">
            <a:solidFill>
              <a:srgbClr val="E9F1FB"/>
            </a:solidFill>
            <a:prstDash val="solid"/>
          </a:ln>
        </p:spPr>
      </p:sp>
      <p:sp>
        <p:nvSpPr>
          <p:cNvPr id="7" name="Shape 5"/>
          <p:cNvSpPr/>
          <p:nvPr/>
        </p:nvSpPr>
        <p:spPr>
          <a:xfrm>
            <a:off x="1051560" y="1828800"/>
            <a:ext cx="384048" cy="384048"/>
          </a:xfrm>
          <a:prstGeom prst="ellipse">
            <a:avLst/>
          </a:prstGeom>
          <a:solidFill>
            <a:srgbClr val="1E2761"/>
          </a:solidFill>
          <a:ln w="12700">
            <a:solidFill>
              <a:srgbClr val="1E2761"/>
            </a:solidFill>
            <a:prstDash val="solid"/>
          </a:ln>
        </p:spPr>
      </p:sp>
      <p:sp>
        <p:nvSpPr>
          <p:cNvPr id="8" name="Text 6"/>
          <p:cNvSpPr/>
          <p:nvPr/>
        </p:nvSpPr>
        <p:spPr>
          <a:xfrm>
            <a:off x="1051560" y="18288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9" name="Text 7"/>
          <p:cNvSpPr/>
          <p:nvPr/>
        </p:nvSpPr>
        <p:spPr>
          <a:xfrm>
            <a:off x="1600200" y="1783080"/>
            <a:ext cx="6309360" cy="777240"/>
          </a:xfrm>
          <a:prstGeom prst="rect">
            <a:avLst/>
          </a:prstGeom>
          <a:noFill/>
          <a:ln/>
        </p:spPr>
        <p:txBody>
          <a:bodyPr wrap="square" lIns="0" tIns="0" rIns="0" bIns="0" rtlCol="0" anchor="t"/>
          <a:lstStyle/>
          <a:p>
            <a:pPr indent="0" marL="0">
              <a:buNone/>
            </a:pPr>
            <a:r>
              <a:rPr lang="en-US" sz="1350" dirty="0">
                <a:solidFill>
                  <a:srgbClr val="26303B"/>
                </a:solidFill>
                <a:latin typeface="Calibri" pitchFamily="34" charset="0"/>
                <a:ea typeface="Calibri" pitchFamily="34" charset="-122"/>
                <a:cs typeface="Calibri" pitchFamily="34" charset="-120"/>
              </a:rPr>
              <a:t>In gruppi di 3-4 (stanze Meet): elencate i punti in cui un algoritmo tocca OGGI la vita dei vostri studenti (social, gaming, ricerche, acquisti, futuro lavoro)</a:t>
            </a:r>
            <a:endParaRPr lang="en-US" sz="1350" dirty="0"/>
          </a:p>
        </p:txBody>
      </p:sp>
      <p:sp>
        <p:nvSpPr>
          <p:cNvPr id="10" name="Shape 8"/>
          <p:cNvSpPr/>
          <p:nvPr/>
        </p:nvSpPr>
        <p:spPr>
          <a:xfrm>
            <a:off x="1051560" y="2670048"/>
            <a:ext cx="384048" cy="384048"/>
          </a:xfrm>
          <a:prstGeom prst="ellipse">
            <a:avLst/>
          </a:prstGeom>
          <a:solidFill>
            <a:srgbClr val="1E2761"/>
          </a:solidFill>
          <a:ln w="12700">
            <a:solidFill>
              <a:srgbClr val="1E2761"/>
            </a:solidFill>
            <a:prstDash val="solid"/>
          </a:ln>
        </p:spPr>
      </p:sp>
      <p:sp>
        <p:nvSpPr>
          <p:cNvPr id="11" name="Text 9"/>
          <p:cNvSpPr/>
          <p:nvPr/>
        </p:nvSpPr>
        <p:spPr>
          <a:xfrm>
            <a:off x="1051560" y="2670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2" name="Text 10"/>
          <p:cNvSpPr/>
          <p:nvPr/>
        </p:nvSpPr>
        <p:spPr>
          <a:xfrm>
            <a:off x="1600200" y="2624328"/>
            <a:ext cx="6309360" cy="777240"/>
          </a:xfrm>
          <a:prstGeom prst="rect">
            <a:avLst/>
          </a:prstGeom>
          <a:noFill/>
          <a:ln/>
        </p:spPr>
        <p:txBody>
          <a:bodyPr wrap="square" lIns="0" tIns="0" rIns="0" bIns="0" rtlCol="0" anchor="t"/>
          <a:lstStyle/>
          <a:p>
            <a:pPr indent="0" marL="0">
              <a:buNone/>
            </a:pPr>
            <a:r>
              <a:rPr lang="en-US" sz="1350" dirty="0">
                <a:solidFill>
                  <a:srgbClr val="26303B"/>
                </a:solidFill>
                <a:latin typeface="Calibri" pitchFamily="34" charset="0"/>
                <a:ea typeface="Calibri" pitchFamily="34" charset="-122"/>
                <a:cs typeface="Calibri" pitchFamily="34" charset="-120"/>
              </a:rPr>
              <a:t>Per ciascun punto: chi decide cosa? Con quali dati? Lo studente lo sa?</a:t>
            </a:r>
            <a:endParaRPr lang="en-US" sz="1350" dirty="0"/>
          </a:p>
        </p:txBody>
      </p:sp>
      <p:sp>
        <p:nvSpPr>
          <p:cNvPr id="13" name="Shape 11"/>
          <p:cNvSpPr/>
          <p:nvPr/>
        </p:nvSpPr>
        <p:spPr>
          <a:xfrm>
            <a:off x="1051560" y="3511296"/>
            <a:ext cx="384048" cy="384048"/>
          </a:xfrm>
          <a:prstGeom prst="ellipse">
            <a:avLst/>
          </a:prstGeom>
          <a:solidFill>
            <a:srgbClr val="1E2761"/>
          </a:solidFill>
          <a:ln w="12700">
            <a:solidFill>
              <a:srgbClr val="1E2761"/>
            </a:solidFill>
            <a:prstDash val="solid"/>
          </a:ln>
        </p:spPr>
      </p:sp>
      <p:sp>
        <p:nvSpPr>
          <p:cNvPr id="14" name="Text 12"/>
          <p:cNvSpPr/>
          <p:nvPr/>
        </p:nvSpPr>
        <p:spPr>
          <a:xfrm>
            <a:off x="1051560" y="351129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5" name="Text 13"/>
          <p:cNvSpPr/>
          <p:nvPr/>
        </p:nvSpPr>
        <p:spPr>
          <a:xfrm>
            <a:off x="1600200" y="3465576"/>
            <a:ext cx="6309360" cy="777240"/>
          </a:xfrm>
          <a:prstGeom prst="rect">
            <a:avLst/>
          </a:prstGeom>
          <a:noFill/>
          <a:ln/>
        </p:spPr>
        <p:txBody>
          <a:bodyPr wrap="square" lIns="0" tIns="0" rIns="0" bIns="0" rtlCol="0" anchor="t"/>
          <a:lstStyle/>
          <a:p>
            <a:pPr indent="0" marL="0">
              <a:buNone/>
            </a:pPr>
            <a:r>
              <a:rPr lang="en-US" sz="1350" dirty="0">
                <a:solidFill>
                  <a:srgbClr val="26303B"/>
                </a:solidFill>
                <a:latin typeface="Calibri" pitchFamily="34" charset="0"/>
                <a:ea typeface="Calibri" pitchFamily="34" charset="-122"/>
                <a:cs typeface="Calibri" pitchFamily="34" charset="-120"/>
              </a:rPr>
              <a:t>Classificate ogni caso con la piramide dell'AI Act: vietato / alto rischio / limitato / minimo</a:t>
            </a:r>
            <a:endParaRPr lang="en-US" sz="1350" dirty="0"/>
          </a:p>
        </p:txBody>
      </p:sp>
      <p:sp>
        <p:nvSpPr>
          <p:cNvPr id="16" name="Shape 14"/>
          <p:cNvSpPr/>
          <p:nvPr/>
        </p:nvSpPr>
        <p:spPr>
          <a:xfrm>
            <a:off x="1051560" y="4352544"/>
            <a:ext cx="384048" cy="384048"/>
          </a:xfrm>
          <a:prstGeom prst="ellipse">
            <a:avLst/>
          </a:prstGeom>
          <a:solidFill>
            <a:srgbClr val="1E2761"/>
          </a:solidFill>
          <a:ln w="12700">
            <a:solidFill>
              <a:srgbClr val="1E2761"/>
            </a:solidFill>
            <a:prstDash val="solid"/>
          </a:ln>
        </p:spPr>
      </p:sp>
      <p:sp>
        <p:nvSpPr>
          <p:cNvPr id="17" name="Text 15"/>
          <p:cNvSpPr/>
          <p:nvPr/>
        </p:nvSpPr>
        <p:spPr>
          <a:xfrm>
            <a:off x="1051560" y="435254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18" name="Text 16"/>
          <p:cNvSpPr/>
          <p:nvPr/>
        </p:nvSpPr>
        <p:spPr>
          <a:xfrm>
            <a:off x="1600200" y="4306824"/>
            <a:ext cx="6309360" cy="777240"/>
          </a:xfrm>
          <a:prstGeom prst="rect">
            <a:avLst/>
          </a:prstGeom>
          <a:noFill/>
          <a:ln/>
        </p:spPr>
        <p:txBody>
          <a:bodyPr wrap="square" lIns="0" tIns="0" rIns="0" bIns="0" rtlCol="0" anchor="t"/>
          <a:lstStyle/>
          <a:p>
            <a:pPr indent="0" marL="0">
              <a:buNone/>
            </a:pPr>
            <a:r>
              <a:rPr lang="en-US" sz="1350" dirty="0">
                <a:solidFill>
                  <a:srgbClr val="26303B"/>
                </a:solidFill>
                <a:latin typeface="Calibri" pitchFamily="34" charset="0"/>
                <a:ea typeface="Calibri" pitchFamily="34" charset="-122"/>
                <a:cs typeface="Calibri" pitchFamily="34" charset="-120"/>
              </a:rPr>
              <a:t>Scegliete IL caso più rilevante per la vostra scuola: sarà il candidato-tema della vostra UdA di Educazione Civica</a:t>
            </a:r>
            <a:endParaRPr lang="en-US" sz="1350" dirty="0"/>
          </a:p>
        </p:txBody>
      </p:sp>
      <p:sp>
        <p:nvSpPr>
          <p:cNvPr id="19" name="Shape 17"/>
          <p:cNvSpPr/>
          <p:nvPr/>
        </p:nvSpPr>
        <p:spPr>
          <a:xfrm>
            <a:off x="1051560" y="5193792"/>
            <a:ext cx="384048" cy="384048"/>
          </a:xfrm>
          <a:prstGeom prst="ellipse">
            <a:avLst/>
          </a:prstGeom>
          <a:solidFill>
            <a:srgbClr val="1E2761"/>
          </a:solidFill>
          <a:ln w="12700">
            <a:solidFill>
              <a:srgbClr val="1E2761"/>
            </a:solidFill>
            <a:prstDash val="solid"/>
          </a:ln>
        </p:spPr>
      </p:sp>
      <p:sp>
        <p:nvSpPr>
          <p:cNvPr id="20" name="Text 18"/>
          <p:cNvSpPr/>
          <p:nvPr/>
        </p:nvSpPr>
        <p:spPr>
          <a:xfrm>
            <a:off x="1051560" y="51937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1" name="Text 19"/>
          <p:cNvSpPr/>
          <p:nvPr/>
        </p:nvSpPr>
        <p:spPr>
          <a:xfrm>
            <a:off x="1600200" y="5148072"/>
            <a:ext cx="6309360" cy="777240"/>
          </a:xfrm>
          <a:prstGeom prst="rect">
            <a:avLst/>
          </a:prstGeom>
          <a:noFill/>
          <a:ln/>
        </p:spPr>
        <p:txBody>
          <a:bodyPr wrap="square" lIns="0" tIns="0" rIns="0" bIns="0" rtlCol="0" anchor="t"/>
          <a:lstStyle/>
          <a:p>
            <a:pPr indent="0" marL="0">
              <a:buNone/>
            </a:pPr>
            <a:r>
              <a:rPr lang="en-US" sz="1350" dirty="0">
                <a:solidFill>
                  <a:srgbClr val="26303B"/>
                </a:solidFill>
                <a:latin typeface="Calibri" pitchFamily="34" charset="0"/>
                <a:ea typeface="Calibri" pitchFamily="34" charset="-122"/>
                <a:cs typeface="Calibri" pitchFamily="34" charset="-120"/>
              </a:rPr>
              <a:t>Restituzione: un caso per gruppo con la classificazione (10')</a:t>
            </a:r>
            <a:endParaRPr lang="en-US" sz="1350" dirty="0"/>
          </a:p>
        </p:txBody>
      </p:sp>
      <p:sp>
        <p:nvSpPr>
          <p:cNvPr id="22" name="Shape 20"/>
          <p:cNvSpPr/>
          <p:nvPr/>
        </p:nvSpPr>
        <p:spPr>
          <a:xfrm>
            <a:off x="8412480" y="1600200"/>
            <a:ext cx="3200400" cy="4572000"/>
          </a:xfrm>
          <a:prstGeom prst="roundRect">
            <a:avLst>
              <a:gd name="adj" fmla="val 2571"/>
            </a:avLst>
          </a:prstGeom>
          <a:solidFill>
            <a:srgbClr val="FFFFFF"/>
          </a:solidFill>
          <a:ln w="12700">
            <a:solidFill>
              <a:srgbClr val="FFFFFF"/>
            </a:solidFill>
            <a:prstDash val="solid"/>
          </a:ln>
        </p:spPr>
      </p:sp>
      <p:sp>
        <p:nvSpPr>
          <p:cNvPr id="23" name="Text 21"/>
          <p:cNvSpPr/>
          <p:nvPr/>
        </p:nvSpPr>
        <p:spPr>
          <a:xfrm>
            <a:off x="8641080" y="1764792"/>
            <a:ext cx="2743200" cy="320040"/>
          </a:xfrm>
          <a:prstGeom prst="rect">
            <a:avLst/>
          </a:prstGeom>
          <a:noFill/>
          <a:ln/>
        </p:spPr>
        <p:txBody>
          <a:bodyPr wrap="square" lIns="0" tIns="0" rIns="0" bIns="0" rtlCol="0" anchor="ctr"/>
          <a:lstStyle/>
          <a:p>
            <a:pPr indent="0" marL="0">
              <a:buNone/>
            </a:pPr>
            <a:r>
              <a:rPr lang="en-US" sz="1450" b="1" dirty="0">
                <a:solidFill>
                  <a:srgbClr val="1E2761"/>
                </a:solidFill>
                <a:latin typeface="Cambria" pitchFamily="34" charset="0"/>
                <a:ea typeface="Cambria" pitchFamily="34" charset="-122"/>
                <a:cs typeface="Cambria" pitchFamily="34" charset="-120"/>
              </a:rPr>
              <a:t>In pratica</a:t>
            </a:r>
            <a:endParaRPr lang="en-US" sz="1450" dirty="0"/>
          </a:p>
        </p:txBody>
      </p:sp>
      <p:sp>
        <p:nvSpPr>
          <p:cNvPr id="24" name="Text 22"/>
          <p:cNvSpPr/>
          <p:nvPr/>
        </p:nvSpPr>
        <p:spPr>
          <a:xfrm>
            <a:off x="8641080" y="2130552"/>
            <a:ext cx="2743200" cy="3886200"/>
          </a:xfrm>
          <a:prstGeom prst="rect">
            <a:avLst/>
          </a:prstGeom>
          <a:noFill/>
          <a:ln/>
        </p:spPr>
        <p:txBody>
          <a:bodyPr wrap="square" lIns="0" tIns="0" rIns="0" bIns="0" rtlCol="0" anchor="t"/>
          <a:lstStyle/>
          <a:p>
            <a:pPr marL="152400" indent="-152400">
              <a:spcAft>
                <a:spcPts val="500"/>
              </a:spcAft>
              <a:buSzPct val="100000"/>
              <a:buChar char="•"/>
            </a:pPr>
            <a:r>
              <a:rPr lang="en-US" sz="1250" b="1" dirty="0">
                <a:solidFill>
                  <a:srgbClr val="26303B"/>
                </a:solidFill>
                <a:latin typeface="Calibri" pitchFamily="34" charset="0"/>
                <a:ea typeface="Calibri" pitchFamily="34" charset="-122"/>
                <a:cs typeface="Calibri" pitchFamily="34" charset="-120"/>
              </a:rPr>
              <a:t>45 minuti totali</a:t>
            </a:r>
            <a:endParaRPr lang="en-US" sz="1250" dirty="0"/>
          </a:p>
          <a:p>
            <a:pPr marL="152400" indent="-152400">
              <a:spcAft>
                <a:spcPts val="500"/>
              </a:spcAft>
              <a:buSzPct val="100000"/>
              <a:buChar char="•"/>
            </a:pPr>
            <a:r>
              <a:rPr lang="en-US" sz="1250" dirty="0">
                <a:solidFill>
                  <a:srgbClr val="26303B"/>
                </a:solidFill>
                <a:latin typeface="Calibri" pitchFamily="34" charset="0"/>
                <a:ea typeface="Calibri" pitchFamily="34" charset="-122"/>
                <a:cs typeface="Calibri" pitchFamily="34" charset="-120"/>
              </a:rPr>
              <a:t>Gruppi da 3-4 in stanze</a:t>
            </a:r>
            <a:endParaRPr lang="en-US" sz="1250" dirty="0"/>
          </a:p>
          <a:p>
            <a:pPr marL="152400" indent="-152400">
              <a:spcAft>
                <a:spcPts val="500"/>
              </a:spcAft>
              <a:buSzPct val="100000"/>
              <a:buChar char="•"/>
            </a:pPr>
            <a:r>
              <a:rPr lang="en-US" sz="1250" dirty="0">
                <a:solidFill>
                  <a:srgbClr val="26303B"/>
                </a:solidFill>
                <a:latin typeface="Calibri" pitchFamily="34" charset="0"/>
                <a:ea typeface="Calibri" pitchFamily="34" charset="-122"/>
                <a:cs typeface="Calibri" pitchFamily="34" charset="-120"/>
              </a:rPr>
              <a:t>Scheda E1 nei Materiali operativi</a:t>
            </a:r>
            <a:endParaRPr lang="en-US" sz="1250" dirty="0"/>
          </a:p>
          <a:p>
            <a:pPr marL="152400" indent="-152400">
              <a:spcAft>
                <a:spcPts val="500"/>
              </a:spcAft>
              <a:buSzPct val="100000"/>
              <a:buChar char="•"/>
            </a:pPr>
            <a:r>
              <a:rPr lang="en-US" sz="1250" b="1" dirty="0">
                <a:solidFill>
                  <a:srgbClr val="26303B"/>
                </a:solidFill>
                <a:latin typeface="Calibri" pitchFamily="34" charset="0"/>
                <a:ea typeface="Calibri" pitchFamily="34" charset="-122"/>
                <a:cs typeface="Calibri" pitchFamily="34" charset="-120"/>
              </a:rPr>
              <a:t>Il caso scelto semina la UdA del project work</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84048"/>
            <a:ext cx="566928" cy="566928"/>
          </a:xfrm>
          <a:prstGeom prst="ellipse">
            <a:avLst/>
          </a:prstGeom>
          <a:solidFill>
            <a:srgbClr val="1E2761"/>
          </a:solidFill>
          <a:ln w="12700">
            <a:solidFill>
              <a:srgbClr val="1E2761"/>
            </a:solidFill>
            <a:prstDash val="solid"/>
          </a:ln>
        </p:spPr>
      </p:sp>
      <p:sp>
        <p:nvSpPr>
          <p:cNvPr id="3" name="Text 1"/>
          <p:cNvSpPr/>
          <p:nvPr/>
        </p:nvSpPr>
        <p:spPr>
          <a:xfrm>
            <a:off x="502920" y="384048"/>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4" name="Text 2"/>
          <p:cNvSpPr/>
          <p:nvPr/>
        </p:nvSpPr>
        <p:spPr>
          <a:xfrm>
            <a:off x="1234440" y="347472"/>
            <a:ext cx="9601200" cy="274320"/>
          </a:xfrm>
          <a:prstGeom prst="rect">
            <a:avLst/>
          </a:prstGeom>
          <a:noFill/>
          <a:ln/>
        </p:spPr>
        <p:txBody>
          <a:bodyPr wrap="square" lIns="0" tIns="0" rIns="0" bIns="0" rtlCol="0" anchor="ctr"/>
          <a:lstStyle/>
          <a:p>
            <a:pPr indent="0" marL="0">
              <a:buNone/>
            </a:pPr>
            <a:r>
              <a:rPr lang="en-US" sz="1100" dirty="0">
                <a:solidFill>
                  <a:srgbClr val="5B6B7C"/>
                </a:solidFill>
                <a:latin typeface="Calibri" pitchFamily="34" charset="0"/>
                <a:ea typeface="Calibri" pitchFamily="34" charset="-122"/>
                <a:cs typeface="Calibri" pitchFamily="34" charset="-120"/>
              </a:rPr>
              <a:t>Ethic-AI 2 — Etica, Bias e Cittadinanza nell'era dell'IA</a:t>
            </a:r>
            <a:endParaRPr lang="en-US" sz="1100" dirty="0"/>
          </a:p>
        </p:txBody>
      </p:sp>
      <p:sp>
        <p:nvSpPr>
          <p:cNvPr id="5" name="Text 3"/>
          <p:cNvSpPr/>
          <p:nvPr/>
        </p:nvSpPr>
        <p:spPr>
          <a:xfrm>
            <a:off x="1234440" y="566928"/>
            <a:ext cx="10332720" cy="68580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Bussola internazionale 2026</a:t>
            </a:r>
            <a:endParaRPr lang="en-US" sz="3000" dirty="0"/>
          </a:p>
        </p:txBody>
      </p:sp>
      <p:sp>
        <p:nvSpPr>
          <p:cNvPr id="6" name="Text 4"/>
          <p:cNvSpPr/>
          <p:nvPr/>
        </p:nvSpPr>
        <p:spPr>
          <a:xfrm>
            <a:off x="822960" y="1600200"/>
            <a:ext cx="6492240" cy="4754880"/>
          </a:xfrm>
          <a:prstGeom prst="rect">
            <a:avLst/>
          </a:prstGeom>
          <a:noFill/>
          <a:ln/>
        </p:spPr>
        <p:txBody>
          <a:bodyPr wrap="square" lIns="0" tIns="0" rIns="0" bIns="0" rtlCol="0" anchor="t"/>
          <a:lstStyle/>
          <a:p>
            <a:pPr marL="177800" indent="-177800">
              <a:spcAft>
                <a:spcPts val="800"/>
              </a:spcAft>
              <a:buSzPct val="100000"/>
              <a:buChar char="•"/>
            </a:pPr>
            <a:r>
              <a:rPr lang="en-US" sz="1500" b="1" dirty="0">
                <a:solidFill>
                  <a:srgbClr val="26303B"/>
                </a:solidFill>
                <a:latin typeface="Calibri" pitchFamily="34" charset="0"/>
                <a:ea typeface="Calibri" pitchFamily="34" charset="-122"/>
                <a:cs typeface="Calibri" pitchFamily="34" charset="-120"/>
              </a:rPr>
              <a:t>EDPS — Compass under the AI Act (2026): il Garante europeo ha mappato 100+ sistemi IA nelle istituzioni UE (GenAI dominante) — il modello di censimento che ogni organizzazione, scuola inclusa, dovrebbe imitare</a:t>
            </a:r>
            <a:endParaRPr lang="en-US" sz="1500" dirty="0"/>
          </a:p>
          <a:p>
            <a:pPr marL="177800" indent="-177800">
              <a:spcAft>
                <a:spcPts val="800"/>
              </a:spcAft>
              <a:buSzPct val="100000"/>
              <a:buChar char="•"/>
            </a:pPr>
            <a:r>
              <a:rPr lang="en-US" sz="1500" dirty="0">
                <a:solidFill>
                  <a:srgbClr val="26303B"/>
                </a:solidFill>
                <a:latin typeface="Calibri" pitchFamily="34" charset="0"/>
                <a:ea typeface="Calibri" pitchFamily="34" charset="-122"/>
                <a:cs typeface="Calibri" pitchFamily="34" charset="-120"/>
              </a:rPr>
              <a:t>UNESCO — Transforming Higher Education (2026): approccio rigorosamente antropocentrico — educare ad «allocare attenzione e sforzo» nell'abbondanza algoritmica</a:t>
            </a:r>
            <a:endParaRPr lang="en-US" sz="1500" dirty="0"/>
          </a:p>
          <a:p>
            <a:pPr marL="177800" indent="-177800">
              <a:spcAft>
                <a:spcPts val="800"/>
              </a:spcAft>
              <a:buSzPct val="100000"/>
              <a:buChar char="•"/>
            </a:pPr>
            <a:r>
              <a:rPr lang="en-US" sz="1500" dirty="0">
                <a:solidFill>
                  <a:srgbClr val="26303B"/>
                </a:solidFill>
                <a:latin typeface="Calibri" pitchFamily="34" charset="0"/>
                <a:ea typeface="Calibri" pitchFamily="34" charset="-122"/>
                <a:cs typeface="Calibri" pitchFamily="34" charset="-120"/>
              </a:rPr>
              <a:t>Racc. UNESCO etica IA (2021, §104): «AI should support the learning process without reducing cognitive abilities» — il criterio con cui giudicare ogni uso</a:t>
            </a:r>
            <a:endParaRPr lang="en-US" sz="1500" dirty="0"/>
          </a:p>
        </p:txBody>
      </p:sp>
      <p:sp>
        <p:nvSpPr>
          <p:cNvPr id="7" name="Shape 5"/>
          <p:cNvSpPr/>
          <p:nvPr/>
        </p:nvSpPr>
        <p:spPr>
          <a:xfrm>
            <a:off x="7635240" y="1600200"/>
            <a:ext cx="3977640" cy="4480560"/>
          </a:xfrm>
          <a:prstGeom prst="roundRect">
            <a:avLst>
              <a:gd name="adj" fmla="val 2069"/>
            </a:avLst>
          </a:prstGeom>
          <a:solidFill>
            <a:srgbClr val="E9F1FB"/>
          </a:solidFill>
          <a:ln w="12700">
            <a:solidFill>
              <a:srgbClr val="E9F1FB"/>
            </a:solidFill>
            <a:prstDash val="solid"/>
          </a:ln>
        </p:spPr>
      </p:sp>
      <p:sp>
        <p:nvSpPr>
          <p:cNvPr id="8" name="Text 6"/>
          <p:cNvSpPr/>
          <p:nvPr/>
        </p:nvSpPr>
        <p:spPr>
          <a:xfrm>
            <a:off x="7863840" y="1764792"/>
            <a:ext cx="3520440" cy="320040"/>
          </a:xfrm>
          <a:prstGeom prst="rect">
            <a:avLst/>
          </a:prstGeom>
          <a:noFill/>
          <a:ln/>
        </p:spPr>
        <p:txBody>
          <a:bodyPr wrap="square" lIns="0" tIns="0" rIns="0" bIns="0" rtlCol="0" anchor="ctr"/>
          <a:lstStyle/>
          <a:p>
            <a:pPr indent="0" marL="0">
              <a:buNone/>
            </a:pPr>
            <a:r>
              <a:rPr lang="en-US" sz="1450" b="1" dirty="0">
                <a:solidFill>
                  <a:srgbClr val="1E2761"/>
                </a:solidFill>
                <a:latin typeface="Cambria" pitchFamily="34" charset="0"/>
                <a:ea typeface="Cambria" pitchFamily="34" charset="-122"/>
                <a:cs typeface="Cambria" pitchFamily="34" charset="-120"/>
              </a:rPr>
              <a:t>La bussola del corso</a:t>
            </a:r>
            <a:endParaRPr lang="en-US" sz="1450" dirty="0"/>
          </a:p>
        </p:txBody>
      </p:sp>
      <p:sp>
        <p:nvSpPr>
          <p:cNvPr id="9" name="Text 7"/>
          <p:cNvSpPr/>
          <p:nvPr/>
        </p:nvSpPr>
        <p:spPr>
          <a:xfrm>
            <a:off x="7863840" y="2130552"/>
            <a:ext cx="3520440" cy="3794760"/>
          </a:xfrm>
          <a:prstGeom prst="rect">
            <a:avLst/>
          </a:prstGeom>
          <a:noFill/>
          <a:ln/>
        </p:spPr>
        <p:txBody>
          <a:bodyPr wrap="square" lIns="0" tIns="0" rIns="0" bIns="0" rtlCol="0" anchor="t"/>
          <a:lstStyle/>
          <a:p>
            <a:pPr marL="152400" indent="-152400">
              <a:spcAft>
                <a:spcPts val="500"/>
              </a:spcAft>
              <a:buSzPct val="100000"/>
              <a:buChar char="•"/>
            </a:pPr>
            <a:r>
              <a:rPr lang="en-US" sz="1250" dirty="0">
                <a:solidFill>
                  <a:srgbClr val="26303B"/>
                </a:solidFill>
                <a:latin typeface="Calibri" pitchFamily="34" charset="0"/>
                <a:ea typeface="Calibri" pitchFamily="34" charset="-122"/>
                <a:cs typeface="Calibri" pitchFamily="34" charset="-120"/>
              </a:rPr>
              <a:t>Ogni incontro chiude con le sue ancore internazionali</a:t>
            </a:r>
            <a:endParaRPr lang="en-US" sz="1250" dirty="0"/>
          </a:p>
          <a:p>
            <a:pPr marL="152400" indent="-152400">
              <a:spcAft>
                <a:spcPts val="500"/>
              </a:spcAft>
              <a:buSzPct val="100000"/>
              <a:buChar char="•"/>
            </a:pPr>
            <a:r>
              <a:rPr lang="en-US" sz="1250" dirty="0">
                <a:solidFill>
                  <a:srgbClr val="26303B"/>
                </a:solidFill>
                <a:latin typeface="Calibri" pitchFamily="34" charset="0"/>
                <a:ea typeface="Calibri" pitchFamily="34" charset="-122"/>
                <a:cs typeface="Calibri" pitchFamily="34" charset="-120"/>
              </a:rPr>
              <a:t>Il corso attua indirizzi UNESCO/OCSE/UE convergenti</a:t>
            </a:r>
            <a:endParaRPr lang="en-US" sz="1250" dirty="0"/>
          </a:p>
          <a:p>
            <a:pPr marL="152400" indent="-152400">
              <a:spcAft>
                <a:spcPts val="500"/>
              </a:spcAft>
              <a:buSzPct val="100000"/>
              <a:buChar char="•"/>
            </a:pPr>
            <a:r>
              <a:rPr lang="en-US" sz="1250" b="1" dirty="0">
                <a:solidFill>
                  <a:srgbClr val="26303B"/>
                </a:solidFill>
                <a:latin typeface="Calibri" pitchFamily="34" charset="0"/>
                <a:ea typeface="Calibri" pitchFamily="34" charset="-122"/>
                <a:cs typeface="Calibri" pitchFamily="34" charset="-120"/>
              </a:rPr>
              <a:t>Etica dell'IA = agenda globale, non opinione locale</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731520"/>
            <a:ext cx="1051560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Per il prossimo incontro</a:t>
            </a:r>
            <a:endParaRPr lang="en-US" sz="3400" dirty="0"/>
          </a:p>
        </p:txBody>
      </p:sp>
      <p:sp>
        <p:nvSpPr>
          <p:cNvPr id="3" name="Text 1"/>
          <p:cNvSpPr/>
          <p:nvPr/>
        </p:nvSpPr>
        <p:spPr>
          <a:xfrm>
            <a:off x="822960" y="1645920"/>
            <a:ext cx="10515600" cy="3108960"/>
          </a:xfrm>
          <a:prstGeom prst="rect">
            <a:avLst/>
          </a:prstGeom>
          <a:noFill/>
          <a:ln/>
        </p:spPr>
        <p:txBody>
          <a:bodyPr wrap="square" lIns="0" tIns="0" rIns="0" bIns="0" rtlCol="0" anchor="t"/>
          <a:lstStyle/>
          <a:p>
            <a:pPr marL="177800" indent="-1778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Compilare il modulo dati partecipanti (indicatori PNRR — 5 minuti, in aula)</a:t>
            </a:r>
            <a:endParaRPr lang="en-US" sz="1600" dirty="0"/>
          </a:p>
          <a:p>
            <a:pPr marL="177800" indent="-1778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Portare giovedì: un caso di decisione algoritmica trovato sui media (articolo, video, post) — lo useremo su DigComp 3.0</a:t>
            </a:r>
            <a:endParaRPr lang="en-US" sz="1600" dirty="0"/>
          </a:p>
          <a:p>
            <a:pPr marL="177800" indent="-1778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Facoltativo: primi capitoli di O'Neil, 'Armi di distruzione matematica' (i casi si leggono come racconti)</a:t>
            </a:r>
            <a:endParaRPr lang="en-US" sz="1600" dirty="0"/>
          </a:p>
          <a:p>
            <a:pPr marL="177800" indent="-1778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Chi non viene da Edu-GenAI 2: guida rapida all'ambiente protetto nel Drive del corso</a:t>
            </a:r>
            <a:endParaRPr lang="en-US" sz="1600" dirty="0"/>
          </a:p>
        </p:txBody>
      </p:sp>
      <p:sp>
        <p:nvSpPr>
          <p:cNvPr id="4" name="Shape 2"/>
          <p:cNvSpPr/>
          <p:nvPr/>
        </p:nvSpPr>
        <p:spPr>
          <a:xfrm>
            <a:off x="822960" y="4937760"/>
            <a:ext cx="10515600" cy="1188720"/>
          </a:xfrm>
          <a:prstGeom prst="roundRect">
            <a:avLst>
              <a:gd name="adj" fmla="val 6923"/>
            </a:avLst>
          </a:prstGeom>
          <a:solidFill>
            <a:srgbClr val="CADCFC"/>
          </a:solidFill>
          <a:ln w="12700">
            <a:solidFill>
              <a:srgbClr val="CADCFC"/>
            </a:solidFill>
            <a:prstDash val="solid"/>
          </a:ln>
        </p:spPr>
      </p:sp>
      <p:sp>
        <p:nvSpPr>
          <p:cNvPr id="5" name="Text 3"/>
          <p:cNvSpPr/>
          <p:nvPr/>
        </p:nvSpPr>
        <p:spPr>
          <a:xfrm>
            <a:off x="1097280" y="4937760"/>
            <a:ext cx="9966960" cy="1188720"/>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Incontro 2 — giovedì 1 ottobre:  </a:t>
            </a:r>
            <a:pPr indent="0" marL="0">
              <a:buNone/>
            </a:pPr>
            <a:r>
              <a:rPr lang="en-US" sz="1400" dirty="0">
                <a:solidFill>
                  <a:srgbClr val="26303B"/>
                </a:solidFill>
                <a:latin typeface="Calibri" pitchFamily="34" charset="0"/>
                <a:ea typeface="Calibri" pitchFamily="34" charset="-122"/>
                <a:cs typeface="Calibri" pitchFamily="34" charset="-120"/>
              </a:rPr>
              <a:t>Cittadinanza democratica e DigComp 3.0: il nuovo quadro europeo, la sostenibilità del digitale e il benessere online.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Ethic-AI 2 — Incontro 1: Impatto sociale, algocrazia e AI Act</dc:title>
  <dc:subject>PptxGenJS Presentation</dc:subject>
  <dc:creator>Snodo formativo VOLTERRA AI-MASTER HUB</dc:creator>
  <cp:lastModifiedBy>Snodo formativo VOLTERRA AI-MASTER HUB</cp:lastModifiedBy>
  <cp:revision>1</cp:revision>
  <dcterms:created xsi:type="dcterms:W3CDTF">2026-07-28T21:36:41Z</dcterms:created>
  <dcterms:modified xsi:type="dcterms:W3CDTF">2026-07-28T21:36:41Z</dcterms:modified>
</cp:coreProperties>
</file>