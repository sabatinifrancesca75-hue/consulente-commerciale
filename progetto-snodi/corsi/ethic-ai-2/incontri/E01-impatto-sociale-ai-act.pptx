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Benvenuto, giro nomi in chat. Molti arrivano da Edu-GenAI 2: questo corso è il completamento critico-etico. Attestato: 70% frequenza (13 ore) + UdA di Educazione Civica digitale.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Presentare la rotta e il patto (stesso perimetro di Edu-GenAI 2, con l'aggiunta: qui l'IA è oggetto di studio critico). Anticipare il project work: UdA di Educazione Civica digitale.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dato 62/30 apre il corso col mandato: non stiamo aggiungendo contenuti, stiamo colmando un divario di cittadinanza. Chi viene da Edu-GenAI 2 riconoscerà il dato: là chiudeva, qui apre.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Esempi concreti e vicini: far emergere dall'aula casi che conoscono (rider, CV screening, feed). O'Neil è la miniera di casi. Chiudere sul ponte: se le decisioni migrano agli algoritmi, la cittadinanza richiede di saperli interrogare.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Differenza rispetto a Edu-GenAI 2: là l'AI Act era perimetro operativo, qui è oggetto didattico. Il riconoscimento emozioni vietato in classe sorprende sempre: usarlo come gancio. La chiusura è la tesi del corso: la norma si insegna, non solo si rispetta.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frame copilota/decisore organizza tutto il corso. Automation bias da spiegare bene: è il rischio dell'era agentica. La citazione EDPS dà il respiro istituzionale europeo.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laboratorio produce la materia prima delle UdA: ogni gruppo esce con un caso reale classificato. Girare nelle stanze e spingere verso casi vicini all'esperienza degli studenti, non casi da manuale.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Stessa slide-firma di Edu-GenAI 2: colloca il corso nell'agenda internazionale. L'EDPS va citato con l'ambito corretto (istituzioni UE) come modello di governance.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Chiusura puntuale, firma registro. Il caso mediatico da portare è il materiale del prossimo laboratorio: insistere.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VOLTERRA AI-MASTER HUB — Snodo formativo IA  •  PNRR M4C1 I2.1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Ethic-AI 2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31520" y="278892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Etica, Bias e Cittadinanza nell'era dell'IA — 18 ore, docenti del secondo ciclo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3657600"/>
            <a:ext cx="777240" cy="777240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36576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783080" y="3675888"/>
            <a:ext cx="9509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Incontro 1 — Impatto sociale, algocrazia e AI Act</a:t>
            </a:r>
            <a:endParaRPr lang="en-US" sz="2400" dirty="0"/>
          </a:p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lunedì 28 settembre 2026  •  15:00–18:00  •  online su Google Meet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31520" y="59893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Formatrice: Prof.ssa Sabatini   •   Tutor: Prof. Simonetti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Ethic-AI 2 — Etica, Bias e Cittadinanza nell'era dell'IA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rotta di oggi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572768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5727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17320" y="153619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un corso sull'etica dell'IA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mandato civico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692640" y="153619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15:00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2231136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2311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219456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Algocrazia: dove decidono gli algoritmi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credito, lavoro, giustizia, scuola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692640" y="21945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15:20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2960" y="2889504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28895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17320" y="285292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L'AI Act in pratica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piramide dei rischi, divieti, trasparenza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92640" y="285292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16:00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22960" y="3547872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3547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417320" y="3511296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Copilota o decisore?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supervisione umana come principio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692640" y="3511296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16:40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22960" y="4206240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4206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417320" y="4169664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Laboratorio: la mappa degli impatti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dove l'algoritmo tocca i vostri studenti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692640" y="4169664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17:05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22960" y="4864608"/>
            <a:ext cx="402336" cy="402336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2960" y="48646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417320" y="482803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Chiusura e consegne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patto d'aula del corso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692640" y="482803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17:50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822960" y="5577840"/>
            <a:ext cx="10607040" cy="1170432"/>
          </a:xfrm>
          <a:prstGeom prst="roundRect">
            <a:avLst>
              <a:gd name="adj" fmla="val 7031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51560" y="5742432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Patto d'aula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1051560" y="6108192"/>
            <a:ext cx="10149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L'IA qui è OGGETTO di analisi prima che strumento • ogni affermazione si fonda su una fonte verificata • nessun dato personale di studenti negli strumenti IA — mai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Ethic-AI 2 — Etica, Bias e Cittadinanza nell'era dell'IA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mandato civico di questo corso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737360"/>
            <a:ext cx="4206240" cy="4206240"/>
          </a:xfrm>
          <a:prstGeom prst="roundRect">
            <a:avLst>
              <a:gd name="adj" fmla="val 2174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28600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62%</a:t>
            </a:r>
            <a:endParaRPr lang="en-US" sz="6400" dirty="0"/>
          </a:p>
        </p:txBody>
      </p:sp>
      <p:sp>
        <p:nvSpPr>
          <p:cNvPr id="8" name="Text 6"/>
          <p:cNvSpPr/>
          <p:nvPr/>
        </p:nvSpPr>
        <p:spPr>
          <a:xfrm>
            <a:off x="1097280" y="379476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dei giovani usa l'IA in contesti pratici di apprendimento e lavoro — ma solo il 30% ha ricevuto una formazione formale (UNESCO-UNEVOC 2025)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5577840" y="1828800"/>
            <a:ext cx="60350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 divario è il nostro compito: i ragazzi vivono già dentro sistemi algoritmici senza strumenti per leggerli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WEF 2025: fino al 39% delle competenze chiave si trasformerà entro il 2030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L'educazione civica digitale non è una materia in più: è la condizione di cittadinanza nell'era degli algoritmi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Questo corso: 6 incontri, un project work (la vostra UdA di Ed. Civica digitale), una comunità che resta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Ethic-AI 2 — Etica, Bias e Cittadinanza nell'era dell'IA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Algocrazia: dove decidono già gli algoritmi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6492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Credito e assicurazioni: scoring che decide chi accede e a che prezzo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Lavoro: screening automatico dei CV, gestione algoritmica dei turni e dei rider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Informazione: i sistemi di raccomandazione decidono cosa vediamo (e cosa no)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Giustizia e sicurezza: risk assessment, sorveglianza — i casi documentati da O'Neil in 'Armi di distruzione matematica'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la scuola? Valutazione automatizzata, proctoring, orientamento predittivo: per questo l'AI Act la mette nell'alto rischio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punto non è 'algoritmi cattivi': è che decisioni opache su larga scala richiedono contrappesi — trasparenza, ricorso, supervisione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35240" y="1600200"/>
            <a:ext cx="3977640" cy="4480560"/>
          </a:xfrm>
          <a:prstGeom prst="roundRect">
            <a:avLst>
              <a:gd name="adj" fmla="val 2069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0" y="1764792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Automazione cognitiva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863840" y="2130552"/>
            <a:ext cx="35204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automatizza il gesto: automatizza la decisione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non sa leggerla, la subisce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Leggere gli algoritmi è la nuova alfabetizzazione civica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Ethic-AI 2 — Etica, Bias e Cittadinanza nell'era dell'IA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L'AI Act in pratica (per la scuola)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1051560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Piramide dei rischi: vietato / alto rischio / rischio limitato / minimo — pienamente applicabile dal 2 agosto 2026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Pratiche VIETATE che toccano la scuola: social scoring, riconoscimento delle emozioni in classe, scraping biometrico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 RISCHIO (All. III — istruzione): sistemi che valutano studenti, decidono ammissioni, assegnano percorsi — obblighi stringenti per chi li usa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RISCHIO LIMITATO (i nostri usi): obblighi di trasparenza — sapere e dire che si interagisce con un'IA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Art. 4: alfabetizzazione IA del personale = obbligo del deployer. Con L. 132/2025 e DM 166/2025 chiude il quadro italiano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Messaggio per il curricolo: l'AI Act è esso stesso CONTENUTO di educazione civica — diritto vivente da portare in classe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Ethic-AI 2 — Etica, Bias e Cittadinanza nell'era dell'IA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Copilota o decisore?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645920"/>
            <a:ext cx="5166360" cy="4480560"/>
          </a:xfrm>
          <a:prstGeom prst="roundRect">
            <a:avLst>
              <a:gd name="adj" fmla="val 1837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810512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come decisore (da evitare)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051560" y="2176272"/>
            <a:ext cx="470916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macchina decide, l'umano ratifica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bias: più il sistema funziona, meno lo controlliamo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Responsabilità che evapora: 'lo ha detto l'algoritmo'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Nella scuola: valutazioni e giudizi delegati = illegittimo oltre che sbagliato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63640" y="1645920"/>
            <a:ext cx="5166360" cy="4480560"/>
          </a:xfrm>
          <a:prstGeom prst="roundRect">
            <a:avLst>
              <a:gd name="adj" fmla="val 1837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1810512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7A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come copilota (DM 166/2025)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92240" y="2176272"/>
            <a:ext cx="470916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macchina propone, l'umano decide e risponde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BY DESIGN: il flusso si ferma per la revisione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Supervisione attiva: campionamenti, verifiche, log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responsabilità resta dove può essere esercitata: sulla persona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«A human-centric AI is a competitive advantage» — EDPS, 2026. Non è un vincolo: è la posizione europea.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Esercitazione — mani sulla tastiera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Laboratorio: la mappa degli impatti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600200"/>
            <a:ext cx="7315200" cy="4572000"/>
          </a:xfrm>
          <a:prstGeom prst="roundRect">
            <a:avLst>
              <a:gd name="adj" fmla="val 1800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51560" y="1828800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600200" y="1783080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gruppi di 3-4 (stanze Meet): elencate i punti in cui un algoritmo tocca OGGI la vita dei vostri studenti (social, gaming, ricerche, acquisti, futuro lavoro)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1051560" y="2670048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2670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00200" y="2624328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ciascun punto: chi decide cosa? Con quali dati? Lo studente lo sa?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1051560" y="3511296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35112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600200" y="3465576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Classificate ogni caso con la piramide dell'AI Act: vietato / alto rischio / limitato / minimo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1051560" y="4352544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4352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600200" y="4306824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Scegliete IL caso più rilevante per la vostra scuola: sarà il candidato-tema della vostra UdA di Educazione Civica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1051560" y="5193792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51560" y="5193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600200" y="5148072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Restituzione: un caso per gruppo con la classificazione (10')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8412480" y="1600200"/>
            <a:ext cx="3200400" cy="45720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641080" y="17647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pratica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8641080" y="2130552"/>
            <a:ext cx="274320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minuti totali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Gruppi da 3-4 in stanze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Scheda E1 nei Materiali operativi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caso scelto semina la UdA del project work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Ethic-AI 2 — Etica, Bias e Cittadinanza nell'era dell'IA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Bussola internazionale 2026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6492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EDPS — Compass under the AI Act (2026): il Garante europeo ha mappato 100+ sistemi IA nelle istituzioni UE (GenAI dominante) — il modello di censimento che ogni organizzazione, scuola inclusa, dovrebbe imitare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UNESCO — Transforming Higher Education (2026): approccio rigorosamente antropocentrico — educare ad «allocare attenzione e sforzo» nell'abbondanza algoritmica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Racc. UNESCO etica IA (2021, §104): «AI should support the learning process without reducing cognitive abilities» — il criterio con cui giudicare ogni uso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35240" y="1600200"/>
            <a:ext cx="3977640" cy="4480560"/>
          </a:xfrm>
          <a:prstGeom prst="roundRect">
            <a:avLst>
              <a:gd name="adj" fmla="val 2069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0" y="1764792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bussola del corso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863840" y="2130552"/>
            <a:ext cx="35204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incontro chiude con le sue ancore internazionali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corso attua indirizzi UNESCO/OCSE/UE convergenti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Etica dell'IA = agenda globale, non opinione locale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315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il prossimo incontro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22960" y="1645920"/>
            <a:ext cx="10515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Compilare il modulo dati partecipanti (indicatori PNRR — 5 minuti, in aula)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Portare giovedì: un caso di decisione algoritmica trovato sui media (articolo, video, post) — lo useremo su DigComp 3.0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Facoltativo: primi capitoli di O'Neil, 'Armi di distruzione matematica' (i casi si leggono come racconti)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non viene da Edu-GenAI 2: guida rapida all'ambiente protetto nel Drive del corso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22960" y="4937760"/>
            <a:ext cx="10515600" cy="1188720"/>
          </a:xfrm>
          <a:prstGeom prst="roundRect">
            <a:avLst>
              <a:gd name="adj" fmla="val 6923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4937760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Incontro 2 — giovedì 1 ottobre:  </a:t>
            </a:r>
            <a:pPr indent="0" marL="0">
              <a:buNone/>
            </a:pPr>
            <a:r>
              <a:rPr lang="en-US" sz="14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Cittadinanza democratica e DigComp 3.0: il nuovo quadro europeo, la sostenibilità del digitale e il benessere online.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Ethic-AI 2 — Incontro 1: Impatto sociale, algocrazia e AI Act</dc:title>
  <dc:subject>PptxGenJS Presentation</dc:subject>
  <dc:creator>Snodo formativo VOLTERRA AI-MASTER HUB</dc:creator>
  <cp:lastModifiedBy>Snodo formativo VOLTERRA AI-MASTER HUB</cp:lastModifiedBy>
  <cp:revision>1</cp:revision>
  <dcterms:created xsi:type="dcterms:W3CDTF">2026-07-28T17:45:35Z</dcterms:created>
  <dcterms:modified xsi:type="dcterms:W3CDTF">2026-07-28T17:45:35Z</dcterms:modified>
</cp:coreProperties>
</file>