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L'incontro pedagogicamente più denso: teoria dello scaffolding + l'evidenza RCT + il laboratorio sul tutor socratico.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Arco narrativo: problema (2 sigma) → teoria (scaffolding) → evidenza (Bastani/Kestin) → tecnica (tutor socratico) → pratica (laboratorio).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 come apertura nobile: il problema è antico e serissimo, l'IA è solo l'ultimo candidato a risolverlo. Questo evita sia l'entusiasmo ingenuo sia lo scetticismo di principio.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tre concetti (ZPD, scaffolding, fading) vanno citati con precisione: sono il lessico professionale che distingue questo corso da un tutorial. La frase 'l'impalcatura serve per essere tolta' è il takeaway.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slide dell'incontro. Lettura corretta: non 'l'IA fa male/bene' ma 'l'IA senza design fa male, con design può fare molto bene'. Il -17% è ritenzione: l'aiuto non interiorizzato evapora. Collegare esplicitamente al fading.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dell'equità: Tutor CoPilot mostra che il design giusto aiuta di più chi parte indietro; la citazione UNESCO mostra il rischio speculare dell'uso naïf. Aerts chiude: personalizzare non significa isolare — il tutor IA affianca la classe, non la sostituisce.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live obbligatoria: interagire col Gem tutor davanti a loro, provare a farsi dare la soluzione e fallire. Il momento più convincente del corso. Poi aprire le istruzioni di sistema e leggerle insieme: nulla di magico, solo progettazione.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Richiamare la regola d'oro dell'incontro 1. Il punto sottile: l'IA genera le versioni (livello 2-3), ma l'abbinamento versione-studente è il docente (livello 1). Mostrare le tre versioni della demo agente come esempio concreto.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test incrociato è il passaggio che fa la qualità: nel ruolo di studente si scoprono i buchi delle istruzioni. Raccogliere in plenaria le 'regole aggiunte' migliori: arricchiscono il template comune del corso.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Chiusura concettuale prima delle consegne: il filo OCSE (performance vs apprendimento) + DLW (automazione e sintetico) convergono sul principio §104 già visto all'incontro 1. Richiamarlo esplicitamente: la coerenza tra gli incontri è parte del messaggio.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L'elaborato anonimizzato è indispensabile per il laboratorio rubriche di martedì: mandare un promemoria lunedì con le istruzioni di anonimizzazione.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VOLTERRA AI-MASTER HUB — Snodo formativo IA  •  PNRR M4C1 I2.1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Edu-GenAI 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Didattica Aumentata e Data Literacy — 18 ore, docenti del secondo ciclo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777240" cy="7772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83080" y="3675888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Incontro 4 — Scaffolding mediato e personalizzazione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venerdì 11 settembre 2026  •  15:00–18:00  •  online su Google Meet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Formatrice: Prof.ssa Sabatini   •   Tutor: Prof. Bonelli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rotta di oggi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57276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72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5361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 delle 2 sigma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il tutoring 1:1 è il Sacro Graal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92640" y="15361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231136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231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1945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 e fading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Vygotskij, Bruner, e cosa c'entra l'IA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92640" y="2194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15:20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2889504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2852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dice l'evidenza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RCT, due esiti opposti — il design conta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92640" y="28529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15:45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547872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35112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tutor socratico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domande, correzione ritardata, fading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92640" y="35112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16:10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4206240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4169664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Personalizzare per profili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BES, DSA, talento — mai per persona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92640" y="41696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16:35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" y="4864608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864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48280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Laboratorio: costruisci il tuo tutor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Gem con le tue regole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92640" y="48280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17:00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22960" y="5577840"/>
            <a:ext cx="10607040" cy="1170432"/>
          </a:xfrm>
          <a:prstGeom prst="roundRect">
            <a:avLst>
              <a:gd name="adj" fmla="val 7031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" y="574243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Filo rosso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051560" y="6108192"/>
            <a:ext cx="10149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tutor IA ben progettato toglie il supporto un po' alla volta. Uno mal progettato lo rende indispensabile. Il fading è la differenza.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problema delle 2 sigma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4206240" cy="420624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860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+2σ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1097280" y="379476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studente medio seguito da un tutor 1:1 supera il 98% della classe tradizionale (Bloom, 1984)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577840" y="18288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tutoring individuale è l'intervento più efficace che conosciamo — e il meno scalabile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domanda di Bloom: come ottenere effetti simili in condizioni di gruppo?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Quarant'anni dopo, l'IA promette tutoring 1:1 per tutti — la promessa va verificata, non creduta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Oggi vediamo a quali condizioni la promessa regge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Scaffolding: impalcature che si tolgono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di sviluppo prossimale (Vygotskij): ciò che lo studente sa fare CON aiuto, ma non ancora da solo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 (Wood, Bruner &amp; Ross, 1976): il supporto calibrato dentro quella zona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Fading: la rimozione graduale del supporto — l'impalcatura serve per essere tolta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rischio speculare con l'IA: un supporto sempre disponibile che non si toglie mai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'Delega cognitiva': quando lo strumento pensa al posto dello studente — l'esatto contrario dello scaffolding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600200"/>
            <a:ext cx="3977640" cy="4480560"/>
          </a:xfrm>
          <a:prstGeom prst="roundRect">
            <a:avLst>
              <a:gd name="adj" fmla="val 2069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7647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Tradotto per l'IA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0" y="2130552"/>
            <a:ext cx="35204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tutor deve dare il minimo aiuto sufficiente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 ridurre l'aiuto man mano che lo studente cresce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 saper dire 'prova prima tu'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Tutto questo si scrive nelle istruzioni del tutor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 RCT, due esiti opposti: il design conta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5166360" cy="4480560"/>
          </a:xfrm>
          <a:prstGeom prst="roundRect">
            <a:avLst>
              <a:gd name="adj" fmla="val 1837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1051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Bastani et al. (PNAS 2025) — scuola superiore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51560" y="2176272"/>
            <a:ext cx="47091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~1.000 studenti, matematica, RCT pre-registrato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'libero': +48% nella pratica assistita…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…ma −17% all'esame SENZA IA rispetto a chi non l'aveva mai usata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versione tutor con guardrail: danno azzerato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45920"/>
            <a:ext cx="5166360" cy="4480560"/>
          </a:xfrm>
          <a:prstGeom prst="roundRect">
            <a:avLst>
              <a:gd name="adj" fmla="val 1837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1051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7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Kestin et al. (Sci. Rep. 2025) — università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92240" y="2176272"/>
            <a:ext cx="47091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IA progettato su principi pedagogici espliciti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Apprendimento più che raddoppiato rispetto all'active learning in aula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meno tempo, con più engagement dichiarato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 universitario: da trasferire con prudenza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Stessa tecnologia. Ciò che cambia è il design: guardrail, domande, fading. È il vostro lavoro di progettisti.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per chi parte più indietro?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4206240" cy="420624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860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1097280" y="379476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percentuali di mastery con i tutor MENO esperti — Tutor CoPilot, RCT su 900 tutor e 1.800 studenti (OECD Outlook 2026)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577840" y="18288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che suggerisce domande-guida invece di risposte 'scala la pedagogia esperta': il beneficio maggiore va a chi ha meno esperienza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contraltare (UNESCO 2026): «i principianti rischiano di usare l'IA in modi che degradano le loro capacità, mentre gli esperti beneficiano delle capacità aumentate»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due frasi insieme sono la tesi dell'equità: lo scaffolding ben progettato è una leva di giustizia educativa, l'uso naïf la ribalta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Attenzione anche alle 'learning echo chambers' (Aerts, UNESCO 2025): l'iper-personalizzazione che isola — la personalizzazione resta dialogica e sociale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tutor socratico: tre regole nel prompt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Domanda, non rispondere: guida con domande progressive verso la soluzione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Correzione ritardata: davanti all'errore, non dare la risposta — chiedi di verificare il passaggio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Fading esplicito: 'riduci l'aiuto man mano che lo studente mostra padronanza; se chiede la soluzione diretta, proponi prima un ultimo tentativo'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Più: linguaggio adatto all'età, registro incoraggiante, mai sarcasmo, stop se emergono dati personali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Tutto questo sono ISTRUZIONI DI SISTEMA di un Gem: si scrivono una volta, valgono per ogni conversazione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600200"/>
            <a:ext cx="3977640" cy="4480560"/>
          </a:xfrm>
          <a:prstGeom prst="roundRect">
            <a:avLst>
              <a:gd name="adj" fmla="val 2069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7647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 vivo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0" y="2130552"/>
            <a:ext cx="35204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il Gem 'Tutor di matematica' del corso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chiedo la soluzione: non me la dà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Sbaglio un passaggio: mi rimanda al punto critico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istruzioni complete sono nei Materiali operativi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Personalizzare per profili, mai per persone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progettano VERSIONI dei materiali: alta leggibilità, base, potenziamento — profili, non elenchi di nomi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leggibilità: frasi brevi, glossario, mappa, esempio svolto in testa a ogni esercizio (principi UDL)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Potenziamento: problema aperto, ipotesi esplicite, aggancio interdisciplinare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abbatte il costo di produrre le versioni; il docente presidia obiettivi e assegnazione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 e PEI restano atti del consiglio di classe: MAI negli strumenti IA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L'assegnazione della versione allo studente è decisione didattica del docente: livello 1 della scala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Esercitazione — mani sulla tastiera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Laboratorio: costruisci il tuo tutor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7315200" cy="4572000"/>
          </a:xfrm>
          <a:prstGeom prst="roundRect">
            <a:avLst>
              <a:gd name="adj" fmla="val 1800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82880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178308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Aprite il template 'Istruzioni tutor socratico' (scheda 4 dei Materiali operativi)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51560" y="2670048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262432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Adattatelo alla vostra disciplina e al caso-tipo che avete portato: quali domande-guida? Dove sbaglia tipicamente lo studente?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51560" y="3511296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3465576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il Gem e testatelo VOI: provate a farvi dare la soluzione, sbagliate apposta, osservate le risposte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51560" y="435254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0200" y="4306824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Scambio in coppia: testate il tutor del collega nel ruolo di studente in difficoltà — 2 feedback: uno su ciò che funziona, uno su una regola da aggiungere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051560" y="519379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5193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00200" y="5148072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 nel canvas della vostra UdA dove questo tutor entra nelle fasi di lavoro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412480" y="1600200"/>
            <a:ext cx="3200400" cy="45720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41080" y="1764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pratica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641080" y="2130552"/>
            <a:ext cx="27432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minuti totali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Individuale (30') + coppie (15')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Restituzione: 10 minuti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tutor diventa parte della UdA del project work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Bussola internazionale 2026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 Digital Education Outlook 2026: il divario tra performance apparente e apprendimento reale è IL tema — «partner di apprendimento, non scorciatoia»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 Digital Learning Week 2026 (appena conclusa a Parigi): il dibattito sui rischi di dipendenza dall'automazione e sui contenuti sintetici — il vostro tutor con fading è la risposta progettuale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regola che tiene insieme tutto (Racc. UNESCO etica IA, §104): «AI should support the learning process without reducing cognitive abilities»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600200"/>
            <a:ext cx="3977640" cy="4480560"/>
          </a:xfrm>
          <a:prstGeom prst="roundRect">
            <a:avLst>
              <a:gd name="adj" fmla="val 2069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7647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una frase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0" y="2130552"/>
            <a:ext cx="35204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tutor ben progettato dà il minimo aiuto sufficiente e impara a togliersi di mezzo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Tutto il resto è ingegneria di questa frase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il prossimo incontro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Rifinire le istruzioni del vostro tutor e collegarlo alle fasi della UdA nel canvas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Portare martedì: un elaborato di studente ANONIMIZZATO (senza nome né riferimenti) su cui lavorare con le rubriche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Facoltativo: Bloom, 'The 2 Sigma Problem' (4 pagine, invecchiato benissimo)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937760"/>
            <a:ext cx="10515600" cy="1188720"/>
          </a:xfrm>
          <a:prstGeom prst="roundRect">
            <a:avLst>
              <a:gd name="adj" fmla="val 692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493776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Incontro 5 — martedì 15 settembre:  </a:t>
            </a:r>
            <a:pPr indent="0" marL="0">
              <a:buNone/>
            </a:pPr>
            <a:r>
              <a:rPr lang="en-US" sz="14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literacy e valutazione assistita: bias, allucinazioni, rubriche co-progettate — e chi valuta resta chiaro.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Edu-GenAI 2 — Incontro 4: Scaffolding mediato e personalizzazione</dc:title>
  <dc:subject>PptxGenJS Presentation</dc:subject>
  <dc:creator>Snodo formativo VOLTERRA AI-MASTER HUB</dc:creator>
  <cp:lastModifiedBy>Snodo formativo VOLTERRA AI-MASTER HUB</cp:lastModifiedBy>
  <cp:revision>1</cp:revision>
  <dcterms:created xsi:type="dcterms:W3CDTF">2026-07-28T17:28:42Z</dcterms:created>
  <dcterms:modified xsi:type="dcterms:W3CDTF">2026-07-28T17:28:42Z</dcterms:modified>
</cp:coreProperties>
</file>